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60" r:id="rId5"/>
    <p:sldId id="261" r:id="rId6"/>
    <p:sldId id="262" r:id="rId7"/>
    <p:sldId id="268" r:id="rId8"/>
    <p:sldId id="267" r:id="rId9"/>
    <p:sldId id="266" r:id="rId10"/>
    <p:sldId id="263" r:id="rId11"/>
    <p:sldId id="264" r:id="rId12"/>
    <p:sldId id="265" r:id="rId13"/>
    <p:sldId id="269" r:id="rId14"/>
    <p:sldId id="270" r:id="rId15"/>
    <p:sldId id="271" r:id="rId16"/>
    <p:sldId id="272" r:id="rId17"/>
    <p:sldId id="273" r:id="rId18"/>
    <p:sldId id="276" r:id="rId19"/>
    <p:sldId id="274" r:id="rId20"/>
    <p:sldId id="277" r:id="rId21"/>
    <p:sldId id="286" r:id="rId22"/>
    <p:sldId id="278" r:id="rId23"/>
    <p:sldId id="279" r:id="rId24"/>
    <p:sldId id="280" r:id="rId25"/>
    <p:sldId id="281" r:id="rId26"/>
    <p:sldId id="284" r:id="rId27"/>
    <p:sldId id="285" r:id="rId28"/>
    <p:sldId id="287" r:id="rId29"/>
    <p:sldId id="282" r:id="rId30"/>
    <p:sldId id="283" r:id="rId31"/>
    <p:sldId id="288" r:id="rId32"/>
    <p:sldId id="259" r:id="rId3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1651" autoAdjust="0"/>
    <p:restoredTop sz="94660"/>
  </p:normalViewPr>
  <p:slideViewPr>
    <p:cSldViewPr snapToGrid="0">
      <p:cViewPr varScale="1">
        <p:scale>
          <a:sx n="82" d="100"/>
          <a:sy n="82" d="100"/>
        </p:scale>
        <p:origin x="874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oup 10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bg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12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3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4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5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6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7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8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9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0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1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2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3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4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5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6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7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8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9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0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1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2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3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4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5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6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7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8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9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0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41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2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3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4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5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6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7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8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9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0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1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2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53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4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5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6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7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8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9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0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1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2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3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4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5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76424" y="1122363"/>
            <a:ext cx="8791575" cy="2387600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76424" y="3602038"/>
            <a:ext cx="8791575" cy="1655762"/>
          </a:xfrm>
        </p:spPr>
        <p:txBody>
          <a:bodyPr>
            <a:normAutofit/>
          </a:bodyPr>
          <a:lstStyle>
            <a:lvl1pPr marL="0" indent="0" algn="l">
              <a:buNone/>
              <a:defRPr sz="2000" cap="all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077511" y="5410201"/>
            <a:ext cx="2743200" cy="365125"/>
          </a:xfrm>
        </p:spPr>
        <p:txBody>
          <a:bodyPr/>
          <a:lstStyle/>
          <a:p>
            <a:fld id="{48A87A34-81AB-432B-8DAE-1953F412C126}" type="datetimeFigureOut">
              <a:rPr lang="en-US" dirty="0"/>
              <a:t>7/31/2023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876424" y="5410201"/>
            <a:ext cx="5124886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96911" y="5410199"/>
            <a:ext cx="771089" cy="365125"/>
          </a:xfrm>
        </p:spPr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7/31/2023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419226"/>
            <a:ext cx="9906000" cy="285273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424362"/>
            <a:ext cx="9906000" cy="1374776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7/31/2023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0" y="2249486"/>
            <a:ext cx="4878389" cy="3541714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249486"/>
            <a:ext cx="4875211" cy="3541714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7/31/2023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19126"/>
            <a:ext cx="9906000" cy="1477961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0019" y="2249486"/>
            <a:ext cx="4649783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0" y="3073397"/>
            <a:ext cx="4878391" cy="2717801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8" y="2249485"/>
            <a:ext cx="4646602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073397"/>
            <a:ext cx="4875210" cy="2717801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7/31/2023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7/31/2023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7/31/2023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6705" y="609601"/>
            <a:ext cx="3856037" cy="163988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56200" y="592666"/>
            <a:ext cx="5891209" cy="5198534"/>
          </a:xfrm>
        </p:spPr>
        <p:txBody>
          <a:bodyPr anchor="ctr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6705" y="2249486"/>
            <a:ext cx="3856037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7/31/2023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5934508" cy="163988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380721" y="609601"/>
            <a:ext cx="3666690" cy="5181599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2249486"/>
            <a:ext cx="5934511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7/31/2023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oto Panorâmica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4304664"/>
            <a:ext cx="9912355" cy="819355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41411" y="606426"/>
            <a:ext cx="9912354" cy="3299778"/>
          </a:xfrm>
          <a:prstGeom prst="round2DiagRect">
            <a:avLst>
              <a:gd name="adj1" fmla="val 4860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>
              <a:buNone/>
            </a:pPr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5124020"/>
            <a:ext cx="9910859" cy="68247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7/31/2023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e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56" y="609600"/>
            <a:ext cx="9905955" cy="342900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4419599"/>
            <a:ext cx="9904459" cy="137159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7/31/2023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çã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599"/>
            <a:ext cx="9302752" cy="2748429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4309919"/>
            <a:ext cx="9906002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7/31/2023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  <p:sp>
        <p:nvSpPr>
          <p:cNvPr id="60" name="TextBox 59"/>
          <p:cNvSpPr txBox="1"/>
          <p:nvPr/>
        </p:nvSpPr>
        <p:spPr>
          <a:xfrm>
            <a:off x="903512" y="73239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537370" y="276497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tão de No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2134041"/>
            <a:ext cx="9906001" cy="251183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4657655"/>
            <a:ext cx="9904505" cy="1140644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7/31/2023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na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141410" y="2674463"/>
            <a:ext cx="3196899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27918" y="3360263"/>
            <a:ext cx="3208735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4766" y="2677635"/>
            <a:ext cx="3184385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04213" y="3363435"/>
            <a:ext cx="3195830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442" y="2674463"/>
            <a:ext cx="3194968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52442" y="3360263"/>
            <a:ext cx="3194968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7/31/2023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nas d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1141411" y="609600"/>
            <a:ext cx="9905999" cy="1905000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141413" y="4404596"/>
            <a:ext cx="319524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141413" y="2666998"/>
            <a:ext cx="31952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41413" y="4980858"/>
            <a:ext cx="3195240" cy="8178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89053" y="4404596"/>
            <a:ext cx="320040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89053" y="2666998"/>
            <a:ext cx="31989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87593" y="4980857"/>
            <a:ext cx="3200400" cy="81034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567" y="4404595"/>
            <a:ext cx="3190741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52442" y="2666998"/>
            <a:ext cx="3194969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52442" y="4980854"/>
            <a:ext cx="3194968" cy="81034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7/31/2023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7/31/2023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042400" y="609599"/>
            <a:ext cx="2005011" cy="5181601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0" y="609599"/>
            <a:ext cx="7748590" cy="5181601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7/31/2023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7"/>
          <p:cNvGrpSpPr/>
          <p:nvPr/>
        </p:nvGrpSpPr>
        <p:grpSpPr>
          <a:xfrm>
            <a:off x="-14288" y="0"/>
            <a:ext cx="12053888" cy="6858001"/>
            <a:chOff x="-14288" y="0"/>
            <a:chExt cx="12053888" cy="6858001"/>
          </a:xfrm>
        </p:grpSpPr>
        <p:grpSp>
          <p:nvGrpSpPr>
            <p:cNvPr id="9" name="Group 8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adFill flip="none" rotWithShape="1">
              <a:gsLst>
                <a:gs pos="0">
                  <a:schemeClr val="tx2"/>
                </a:gs>
                <a:gs pos="100000">
                  <a:schemeClr val="bg2">
                    <a:lumMod val="60000"/>
                    <a:lumOff val="4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21" name="Rectangle 5"/>
              <p:cNvSpPr>
                <a:spLocks noChangeArrowheads="1"/>
              </p:cNvSpPr>
              <p:nvPr/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22" name="Freeform 6"/>
              <p:cNvSpPr>
                <a:spLocks noEditPoints="1"/>
              </p:cNvSpPr>
              <p:nvPr/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3" name="Freeform 7"/>
              <p:cNvSpPr>
                <a:spLocks noEditPoints="1"/>
              </p:cNvSpPr>
              <p:nvPr/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4" name="Freeform 8"/>
              <p:cNvSpPr/>
              <p:nvPr/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5" name="Freeform 9"/>
              <p:cNvSpPr>
                <a:spLocks noEditPoints="1"/>
              </p:cNvSpPr>
              <p:nvPr/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6" name="Freeform 10"/>
              <p:cNvSpPr/>
              <p:nvPr/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7" name="Freeform 11"/>
              <p:cNvSpPr/>
              <p:nvPr/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8" name="Freeform 12"/>
              <p:cNvSpPr>
                <a:spLocks noEditPoints="1"/>
              </p:cNvSpPr>
              <p:nvPr/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9" name="Freeform 13"/>
              <p:cNvSpPr>
                <a:spLocks noEditPoints="1"/>
              </p:cNvSpPr>
              <p:nvPr/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0" name="Freeform 14"/>
              <p:cNvSpPr/>
              <p:nvPr/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1" name="Freeform 15"/>
              <p:cNvSpPr>
                <a:spLocks noEditPoints="1"/>
              </p:cNvSpPr>
              <p:nvPr/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2" name="Line 16"/>
              <p:cNvSpPr>
                <a:spLocks noChangeShapeType="1"/>
              </p:cNvSpPr>
              <p:nvPr/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</p:sp>
          <p:sp>
            <p:nvSpPr>
              <p:cNvPr id="33" name="Freeform 17"/>
              <p:cNvSpPr/>
              <p:nvPr/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4" name="Freeform 18"/>
              <p:cNvSpPr/>
              <p:nvPr/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5" name="Freeform 19"/>
              <p:cNvSpPr/>
              <p:nvPr/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6" name="Freeform 20"/>
              <p:cNvSpPr>
                <a:spLocks noEditPoints="1"/>
              </p:cNvSpPr>
              <p:nvPr/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7" name="Rectangle 21"/>
              <p:cNvSpPr>
                <a:spLocks noChangeArrowheads="1"/>
              </p:cNvSpPr>
              <p:nvPr/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38" name="Freeform 22"/>
              <p:cNvSpPr/>
              <p:nvPr/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9" name="Freeform 23"/>
              <p:cNvSpPr>
                <a:spLocks noEditPoints="1"/>
              </p:cNvSpPr>
              <p:nvPr/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0" name="Freeform 24"/>
              <p:cNvSpPr/>
              <p:nvPr/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1" name="Freeform 25"/>
              <p:cNvSpPr>
                <a:spLocks noEditPoints="1"/>
              </p:cNvSpPr>
              <p:nvPr/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2" name="Freeform 26"/>
              <p:cNvSpPr/>
              <p:nvPr/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3" name="Freeform 27"/>
              <p:cNvSpPr/>
              <p:nvPr/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4" name="Freeform 28"/>
              <p:cNvSpPr>
                <a:spLocks noEditPoints="1"/>
              </p:cNvSpPr>
              <p:nvPr/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5" name="Freeform 29"/>
              <p:cNvSpPr>
                <a:spLocks noEditPoints="1"/>
              </p:cNvSpPr>
              <p:nvPr/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6" name="Freeform 30"/>
              <p:cNvSpPr/>
              <p:nvPr/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7" name="Freeform 31"/>
              <p:cNvSpPr>
                <a:spLocks noEditPoints="1"/>
              </p:cNvSpPr>
              <p:nvPr/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</p:grpSp>
        <p:grpSp>
          <p:nvGrpSpPr>
            <p:cNvPr id="10" name="Group 9"/>
            <p:cNvGrpSpPr/>
            <p:nvPr/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  <a:gradFill flip="none" rotWithShape="1">
              <a:gsLst>
                <a:gs pos="0">
                  <a:schemeClr val="tx2">
                    <a:alpha val="80000"/>
                  </a:schemeClr>
                </a:gs>
                <a:gs pos="100000">
                  <a:schemeClr val="bg2">
                    <a:lumMod val="60000"/>
                    <a:lumOff val="40000"/>
                    <a:alpha val="6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11" name="Freeform 32"/>
              <p:cNvSpPr/>
              <p:nvPr/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2" name="Freeform 33"/>
              <p:cNvSpPr>
                <a:spLocks noEditPoints="1"/>
              </p:cNvSpPr>
              <p:nvPr/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3" name="Freeform 34"/>
              <p:cNvSpPr>
                <a:spLocks noEditPoints="1"/>
              </p:cNvSpPr>
              <p:nvPr/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4" name="Freeform 35"/>
              <p:cNvSpPr/>
              <p:nvPr/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5" name="Freeform 36"/>
              <p:cNvSpPr>
                <a:spLocks noEditPoints="1"/>
              </p:cNvSpPr>
              <p:nvPr/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6" name="Freeform 37"/>
              <p:cNvSpPr/>
              <p:nvPr/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7" name="Freeform 38"/>
              <p:cNvSpPr>
                <a:spLocks noEditPoints="1"/>
              </p:cNvSpPr>
              <p:nvPr/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8" name="Freeform 39"/>
              <p:cNvSpPr/>
              <p:nvPr/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9" name="Freeform 40"/>
              <p:cNvSpPr>
                <a:spLocks noEditPoints="1"/>
              </p:cNvSpPr>
              <p:nvPr/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0" name="Rectangle 41"/>
              <p:cNvSpPr>
                <a:spLocks noChangeArrowheads="1"/>
              </p:cNvSpPr>
              <p:nvPr/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2" y="2249487"/>
            <a:ext cx="9905999" cy="354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A87A34-81AB-432B-8DAE-1953F412C126}" type="datetimeFigureOut">
              <a:rPr lang="en-US" dirty="0"/>
              <a:pPr/>
              <a:t>7/31/2023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 cap="all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22F896-40B5-4ADD-8801-0D06FADFA09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60" r:id="rId10"/>
    <p:sldLayoutId id="2147483661" r:id="rId11"/>
    <p:sldLayoutId id="2147483666" r:id="rId12"/>
    <p:sldLayoutId id="2147483663" r:id="rId13"/>
    <p:sldLayoutId id="2147483667" r:id="rId14"/>
    <p:sldLayoutId id="2147483668" r:id="rId15"/>
    <p:sldLayoutId id="2147483658" r:id="rId16"/>
    <p:sldLayoutId id="2147483659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957BA6E-724A-BA9E-0199-C526F861135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/>
              <a:t>Raciocínio Lógico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7EC7721-08EF-E9A4-4DB8-E4A44E92F58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pt-BR" dirty="0"/>
              <a:t>FCC</a:t>
            </a: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4440847D-AECB-184B-25F9-D79B06146BC2}"/>
              </a:ext>
            </a:extLst>
          </p:cNvPr>
          <p:cNvSpPr/>
          <p:nvPr/>
        </p:nvSpPr>
        <p:spPr>
          <a:xfrm>
            <a:off x="559837" y="6600825"/>
            <a:ext cx="11403563" cy="170502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dirty="0"/>
              <a:t>Luiz Fernando de Andrade Gadêlha – aulasluizgadelha@gmail.com</a:t>
            </a:r>
          </a:p>
        </p:txBody>
      </p:sp>
    </p:spTree>
    <p:extLst>
      <p:ext uri="{BB962C8B-B14F-4D97-AF65-F5344CB8AC3E}">
        <p14:creationId xmlns:p14="http://schemas.microsoft.com/office/powerpoint/2010/main" val="32623060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77C85FB-446F-52CD-5273-04960129C0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2" y="86673"/>
            <a:ext cx="9905998" cy="1478570"/>
          </a:xfrm>
        </p:spPr>
        <p:txBody>
          <a:bodyPr/>
          <a:lstStyle/>
          <a:p>
            <a:r>
              <a:rPr lang="pt-BR" dirty="0"/>
              <a:t>Múltiplo de Um número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E574E7E-F48B-C0A2-29F0-11C5A8A48C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9837" y="1660849"/>
            <a:ext cx="11308701" cy="4130352"/>
          </a:xfrm>
        </p:spPr>
        <p:txBody>
          <a:bodyPr>
            <a:normAutofit/>
          </a:bodyPr>
          <a:lstStyle/>
          <a:p>
            <a:r>
              <a:rPr lang="pt-BR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Para obtermos os múltiplos de um número qualquer, multiplicamos os números de um conjunto de números naturais por esse número</a:t>
            </a:r>
          </a:p>
          <a:p>
            <a:r>
              <a:rPr lang="pt-BR" dirty="0">
                <a:solidFill>
                  <a:srgbClr val="000000"/>
                </a:solidFill>
                <a:latin typeface="Arial" panose="020B0604020202020204" pitchFamily="34" charset="0"/>
              </a:rPr>
              <a:t>O zero é múltiplo de qualquer número</a:t>
            </a:r>
          </a:p>
          <a:p>
            <a:r>
              <a:rPr lang="pt-BR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O único múltiplo de zero é o próprio zero</a:t>
            </a: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C60D347B-FDEB-43C5-762E-9D7D57A744EF}"/>
              </a:ext>
            </a:extLst>
          </p:cNvPr>
          <p:cNvSpPr/>
          <p:nvPr/>
        </p:nvSpPr>
        <p:spPr>
          <a:xfrm>
            <a:off x="512405" y="6687498"/>
            <a:ext cx="11403563" cy="170502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dirty="0"/>
              <a:t>Luiz Fernando de Andrade Gadêlha – aulasluizgadelha@gmail.com</a:t>
            </a:r>
          </a:p>
        </p:txBody>
      </p:sp>
    </p:spTree>
    <p:extLst>
      <p:ext uri="{BB962C8B-B14F-4D97-AF65-F5344CB8AC3E}">
        <p14:creationId xmlns:p14="http://schemas.microsoft.com/office/powerpoint/2010/main" val="137987163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EF1E923-DB16-363C-64E7-A4B0C3B976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Exemplo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3248016-19BD-2A52-7EA3-3898716F6C8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>
                <a:solidFill>
                  <a:srgbClr val="000000"/>
                </a:solidFill>
                <a:latin typeface="Arial" panose="020B0604020202020204" pitchFamily="34" charset="0"/>
              </a:rPr>
              <a:t>Se quisermos ter os múltiplos de 3 vamos multiplicar por todos números naturais </a:t>
            </a:r>
          </a:p>
          <a:p>
            <a:pPr lvl="1"/>
            <a:r>
              <a:rPr lang="pt-BR" dirty="0">
                <a:solidFill>
                  <a:srgbClr val="000000"/>
                </a:solidFill>
                <a:latin typeface="Arial" panose="020B0604020202020204" pitchFamily="34" charset="0"/>
              </a:rPr>
              <a:t>3 *[0,1,2,3,4,5,6,7,8,9,10....] = [0,3,6,9,12,15,18, 21, 24,27,30....]</a:t>
            </a:r>
          </a:p>
          <a:p>
            <a:r>
              <a:rPr lang="pt-BR" dirty="0">
                <a:solidFill>
                  <a:srgbClr val="000000"/>
                </a:solidFill>
                <a:latin typeface="Arial" panose="020B0604020202020204" pitchFamily="34" charset="0"/>
              </a:rPr>
              <a:t>Outros exemplos</a:t>
            </a:r>
          </a:p>
          <a:p>
            <a:pPr lvl="1"/>
            <a:r>
              <a:rPr lang="pt-BR" dirty="0">
                <a:solidFill>
                  <a:srgbClr val="000000"/>
                </a:solidFill>
                <a:latin typeface="Arial" panose="020B0604020202020204" pitchFamily="34" charset="0"/>
              </a:rPr>
              <a:t>M(12) = [12,24,36,48,60....]</a:t>
            </a:r>
          </a:p>
          <a:p>
            <a:pPr lvl="1"/>
            <a:r>
              <a:rPr lang="pt-BR" dirty="0">
                <a:solidFill>
                  <a:srgbClr val="000000"/>
                </a:solidFill>
                <a:latin typeface="Arial" panose="020B0604020202020204" pitchFamily="34" charset="0"/>
              </a:rPr>
              <a:t>M(25) = [25,50,75,100....]</a:t>
            </a:r>
          </a:p>
          <a:p>
            <a:pPr lvl="1"/>
            <a:r>
              <a:rPr lang="pt-BR" dirty="0">
                <a:solidFill>
                  <a:srgbClr val="000000"/>
                </a:solidFill>
                <a:latin typeface="Arial" panose="020B0604020202020204" pitchFamily="34" charset="0"/>
              </a:rPr>
              <a:t>M(230) = [230, 460, 690, 920....]</a:t>
            </a:r>
            <a:endParaRPr lang="pt-BR" dirty="0"/>
          </a:p>
          <a:p>
            <a:endParaRPr lang="pt-BR" dirty="0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FF99C955-273E-C57A-CDE3-DC2A54E42B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27563" y="753714"/>
            <a:ext cx="2324301" cy="1021168"/>
          </a:xfrm>
          <a:prstGeom prst="rect">
            <a:avLst/>
          </a:prstGeom>
        </p:spPr>
      </p:pic>
      <p:sp>
        <p:nvSpPr>
          <p:cNvPr id="6" name="Retângulo 5">
            <a:extLst>
              <a:ext uri="{FF2B5EF4-FFF2-40B4-BE49-F238E27FC236}">
                <a16:creationId xmlns:a16="http://schemas.microsoft.com/office/drawing/2014/main" id="{AC81B176-9391-DDDD-03AB-6282C00ED598}"/>
              </a:ext>
            </a:extLst>
          </p:cNvPr>
          <p:cNvSpPr/>
          <p:nvPr/>
        </p:nvSpPr>
        <p:spPr>
          <a:xfrm>
            <a:off x="512405" y="6687498"/>
            <a:ext cx="11403563" cy="170502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dirty="0"/>
              <a:t>Luiz Fernando de Andrade Gadêlha – aulasluizgadelha@gmail.com</a:t>
            </a:r>
          </a:p>
        </p:txBody>
      </p:sp>
    </p:spTree>
    <p:extLst>
      <p:ext uri="{BB962C8B-B14F-4D97-AF65-F5344CB8AC3E}">
        <p14:creationId xmlns:p14="http://schemas.microsoft.com/office/powerpoint/2010/main" val="104334975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DC4793C-F6A4-552F-3DF9-485E692EC2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Mínimo Múltiplo Comum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0C61AC9A-ED0D-8A80-BE5E-BCBE9126C8D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pt-BR" dirty="0"/>
              <a:t>Os múltiplos de 7 são : 0,7,14,21,28,35,42,49,56...</a:t>
            </a:r>
          </a:p>
          <a:p>
            <a:r>
              <a:rPr lang="pt-BR" dirty="0"/>
              <a:t>Os múltiplos de 2 são: 02,4,8,16,24,32,40,48,56,64....</a:t>
            </a:r>
          </a:p>
          <a:p>
            <a:r>
              <a:rPr lang="pt-BR" dirty="0"/>
              <a:t>Tirando o zero, o menor múltiplo comum, entre 7 e 2 é: 14=7*2</a:t>
            </a:r>
          </a:p>
          <a:p>
            <a:pPr lvl="1"/>
            <a:r>
              <a:rPr lang="pt-BR" dirty="0"/>
              <a:t>O valor é 14 é o mínimo por que 7 e 2 não tem nenhum fator comum</a:t>
            </a:r>
          </a:p>
          <a:p>
            <a:pPr lvl="1"/>
            <a:endParaRPr lang="pt-BR" dirty="0"/>
          </a:p>
          <a:p>
            <a:pPr lvl="1"/>
            <a:r>
              <a:rPr lang="pt-BR" dirty="0"/>
              <a:t>Nesse exemplo,  MMC entre dois números primos (Que só são divisíveis por 1 e eles  mesmo) é sempre a multiplicação entre os números.  </a:t>
            </a:r>
          </a:p>
          <a:p>
            <a:pPr marL="457200" lvl="1" indent="0">
              <a:buNone/>
            </a:pPr>
            <a:endParaRPr lang="pt-BR" dirty="0"/>
          </a:p>
          <a:p>
            <a:endParaRPr lang="pt-BR" dirty="0"/>
          </a:p>
          <a:p>
            <a:pPr marL="914400" lvl="2" indent="0">
              <a:buNone/>
            </a:pPr>
            <a:r>
              <a:rPr lang="pt-BR" dirty="0"/>
              <a:t>	</a:t>
            </a:r>
          </a:p>
          <a:p>
            <a:endParaRPr lang="pt-BR" dirty="0"/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999F5BBC-3846-8418-9EE1-C156CDEFBC8C}"/>
              </a:ext>
            </a:extLst>
          </p:cNvPr>
          <p:cNvSpPr/>
          <p:nvPr/>
        </p:nvSpPr>
        <p:spPr>
          <a:xfrm>
            <a:off x="512405" y="6687498"/>
            <a:ext cx="11403563" cy="170502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dirty="0"/>
              <a:t>Luiz Fernando de Andrade Gadêlha – aulasluizgadelha@gmail.com</a:t>
            </a:r>
          </a:p>
        </p:txBody>
      </p:sp>
    </p:spTree>
    <p:extLst>
      <p:ext uri="{BB962C8B-B14F-4D97-AF65-F5344CB8AC3E}">
        <p14:creationId xmlns:p14="http://schemas.microsoft.com/office/powerpoint/2010/main" val="424977202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996D102-10D9-067A-2AFC-5E1645BED5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73461" y="1465716"/>
            <a:ext cx="9905999" cy="3541714"/>
          </a:xfrm>
        </p:spPr>
        <p:txBody>
          <a:bodyPr>
            <a:normAutofit lnSpcReduction="10000"/>
          </a:bodyPr>
          <a:lstStyle/>
          <a:p>
            <a:r>
              <a:rPr lang="pt-BR" sz="3600" dirty="0"/>
              <a:t>Vamos tirar os múltiplo comum entre 5 e 35:</a:t>
            </a:r>
          </a:p>
          <a:p>
            <a:pPr lvl="1"/>
            <a:r>
              <a:rPr lang="pt-BR" sz="3200" dirty="0"/>
              <a:t>Verificando os fatores de cada número, temos:</a:t>
            </a:r>
          </a:p>
          <a:p>
            <a:pPr lvl="2"/>
            <a:r>
              <a:rPr lang="pt-BR" sz="2800" dirty="0"/>
              <a:t>30 = 2*3*5</a:t>
            </a:r>
          </a:p>
          <a:p>
            <a:pPr lvl="2"/>
            <a:r>
              <a:rPr lang="pt-BR" sz="2800" dirty="0"/>
              <a:t>70 = 2*7*5</a:t>
            </a:r>
          </a:p>
          <a:p>
            <a:pPr lvl="1"/>
            <a:r>
              <a:rPr lang="pt-BR" sz="3200" dirty="0"/>
              <a:t>30 e 70 tem os fatores 2 e 5 em comum:</a:t>
            </a:r>
          </a:p>
          <a:p>
            <a:pPr lvl="2"/>
            <a:r>
              <a:rPr lang="pt-BR" sz="2800" dirty="0"/>
              <a:t>Portanto o MMC entre 30 e 70 é: 2*3*7*5 = 210</a:t>
            </a: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026B525E-B293-612D-CB3E-2BE90FC58548}"/>
              </a:ext>
            </a:extLst>
          </p:cNvPr>
          <p:cNvSpPr/>
          <p:nvPr/>
        </p:nvSpPr>
        <p:spPr>
          <a:xfrm>
            <a:off x="512405" y="6687498"/>
            <a:ext cx="11403563" cy="170502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dirty="0"/>
              <a:t>Luiz Fernando de Andrade Gadêlha – aulasluizgadelha@gmail.com</a:t>
            </a:r>
          </a:p>
        </p:txBody>
      </p:sp>
    </p:spTree>
    <p:extLst>
      <p:ext uri="{BB962C8B-B14F-4D97-AF65-F5344CB8AC3E}">
        <p14:creationId xmlns:p14="http://schemas.microsoft.com/office/powerpoint/2010/main" val="123060655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50A1F41-9AB2-A2A0-BB84-E6071FDAB8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Exemplo: MMC entre 6 e 8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E2449EC-6F57-F45A-5DBF-70BC755213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pt-BR" dirty="0"/>
              <a:t>6 = 2*3    6*[1,2,3,4,56,6,7,8...] = [6,12,18,</a:t>
            </a:r>
            <a:r>
              <a:rPr lang="pt-BR" dirty="0">
                <a:solidFill>
                  <a:schemeClr val="bg2"/>
                </a:solidFill>
              </a:rPr>
              <a:t>24</a:t>
            </a:r>
            <a:r>
              <a:rPr lang="pt-BR" dirty="0"/>
              <a:t>,30,36,42,</a:t>
            </a:r>
            <a:r>
              <a:rPr lang="pt-BR" dirty="0">
                <a:solidFill>
                  <a:schemeClr val="bg2"/>
                </a:solidFill>
              </a:rPr>
              <a:t>48</a:t>
            </a:r>
            <a:r>
              <a:rPr lang="pt-BR" dirty="0"/>
              <a:t>.....]</a:t>
            </a:r>
          </a:p>
          <a:p>
            <a:r>
              <a:rPr lang="pt-BR" dirty="0"/>
              <a:t>8 = 2*2*2 8*[1,2,3,4,5,6,7,8....]  = [8,15,    </a:t>
            </a:r>
            <a:r>
              <a:rPr lang="pt-BR" dirty="0">
                <a:solidFill>
                  <a:schemeClr val="bg2"/>
                </a:solidFill>
              </a:rPr>
              <a:t>24</a:t>
            </a:r>
            <a:r>
              <a:rPr lang="pt-BR" dirty="0"/>
              <a:t>,32,40,     </a:t>
            </a:r>
            <a:r>
              <a:rPr lang="pt-BR" dirty="0">
                <a:solidFill>
                  <a:schemeClr val="bg2"/>
                </a:solidFill>
              </a:rPr>
              <a:t>48</a:t>
            </a:r>
            <a:r>
              <a:rPr lang="pt-BR" dirty="0"/>
              <a:t>.....]</a:t>
            </a:r>
          </a:p>
          <a:p>
            <a:r>
              <a:rPr lang="pt-BR" dirty="0"/>
              <a:t>O MMC entre 8 e 6, nesse caso, é 24: o menor múltiplo comum</a:t>
            </a:r>
          </a:p>
          <a:p>
            <a:r>
              <a:rPr lang="pt-BR" dirty="0"/>
              <a:t>A maneira fácil de calcular o MMC entre dois números é:</a:t>
            </a:r>
          </a:p>
          <a:p>
            <a:pPr lvl="1"/>
            <a:r>
              <a:rPr lang="pt-BR" dirty="0"/>
              <a:t>1- Identificar os fatores dos números em questão</a:t>
            </a:r>
          </a:p>
          <a:p>
            <a:pPr lvl="2"/>
            <a:r>
              <a:rPr lang="pt-BR" dirty="0"/>
              <a:t>6 = 2*3</a:t>
            </a:r>
          </a:p>
          <a:p>
            <a:pPr lvl="2"/>
            <a:r>
              <a:rPr lang="pt-BR" dirty="0"/>
              <a:t>8 = 2*4</a:t>
            </a:r>
          </a:p>
          <a:p>
            <a:pPr lvl="1"/>
            <a:r>
              <a:rPr lang="pt-BR" dirty="0"/>
              <a:t>2 multiplicar os fatores sem repetição para encontrar o MMC:</a:t>
            </a:r>
          </a:p>
          <a:p>
            <a:pPr lvl="2"/>
            <a:r>
              <a:rPr lang="pt-BR" dirty="0"/>
              <a:t>MMC(6,8) = 2*3*4 = 24</a:t>
            </a:r>
          </a:p>
          <a:p>
            <a:endParaRPr lang="pt-BR" dirty="0"/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5F1489B5-6EF0-3D16-4BE6-A5F411A68CEA}"/>
              </a:ext>
            </a:extLst>
          </p:cNvPr>
          <p:cNvSpPr/>
          <p:nvPr/>
        </p:nvSpPr>
        <p:spPr>
          <a:xfrm>
            <a:off x="512405" y="6687498"/>
            <a:ext cx="11403563" cy="170502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dirty="0"/>
              <a:t>Luiz Fernando de Andrade Gadêlha – aulasluizgadelha@gmail.com</a:t>
            </a:r>
          </a:p>
        </p:txBody>
      </p:sp>
    </p:spTree>
    <p:extLst>
      <p:ext uri="{BB962C8B-B14F-4D97-AF65-F5344CB8AC3E}">
        <p14:creationId xmlns:p14="http://schemas.microsoft.com/office/powerpoint/2010/main" val="336248930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69F02CF-1F33-DBFD-C3F3-1C27719414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Processo prático para cálculo do </a:t>
            </a:r>
            <a:r>
              <a:rPr lang="pt-BR" dirty="0" err="1"/>
              <a:t>mmc</a:t>
            </a: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5F89585-86C4-5AED-1A9A-3062FD6F24D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dirty="0"/>
              <a:t>Digamos que vamos calcular o </a:t>
            </a:r>
            <a:r>
              <a:rPr lang="pt-BR" dirty="0" err="1"/>
              <a:t>mmc</a:t>
            </a:r>
            <a:r>
              <a:rPr lang="pt-BR" dirty="0"/>
              <a:t> entre 14, 70, e 20</a:t>
            </a:r>
          </a:p>
          <a:p>
            <a:pPr lvl="1"/>
            <a:r>
              <a:rPr lang="pt-BR" dirty="0"/>
              <a:t>1-fatorar os números</a:t>
            </a:r>
          </a:p>
          <a:p>
            <a:pPr lvl="1"/>
            <a:endParaRPr lang="pt-BR" dirty="0"/>
          </a:p>
          <a:p>
            <a:pPr lvl="1"/>
            <a:endParaRPr lang="pt-BR" dirty="0"/>
          </a:p>
          <a:p>
            <a:pPr lvl="1"/>
            <a:endParaRPr lang="pt-BR" dirty="0"/>
          </a:p>
          <a:p>
            <a:pPr lvl="1"/>
            <a:endParaRPr lang="pt-BR" dirty="0"/>
          </a:p>
          <a:p>
            <a:pPr lvl="1"/>
            <a:endParaRPr lang="pt-BR" dirty="0"/>
          </a:p>
          <a:p>
            <a:pPr lvl="1"/>
            <a:endParaRPr lang="pt-BR" dirty="0"/>
          </a:p>
          <a:p>
            <a:pPr lvl="1"/>
            <a:endParaRPr lang="pt-BR" dirty="0"/>
          </a:p>
          <a:p>
            <a:pPr lvl="1"/>
            <a:endParaRPr lang="pt-BR" dirty="0"/>
          </a:p>
          <a:p>
            <a:pPr lvl="1"/>
            <a:endParaRPr lang="pt-BR" dirty="0"/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E7A61D61-A86F-DA33-C95D-F95F7FE58F12}"/>
              </a:ext>
            </a:extLst>
          </p:cNvPr>
          <p:cNvSpPr/>
          <p:nvPr/>
        </p:nvSpPr>
        <p:spPr>
          <a:xfrm>
            <a:off x="512405" y="6687498"/>
            <a:ext cx="11403563" cy="170502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dirty="0"/>
              <a:t>Luiz Fernando de Andrade Gadêlha – aulasluizgadelha@gmail.com</a:t>
            </a:r>
          </a:p>
        </p:txBody>
      </p:sp>
    </p:spTree>
    <p:extLst>
      <p:ext uri="{BB962C8B-B14F-4D97-AF65-F5344CB8AC3E}">
        <p14:creationId xmlns:p14="http://schemas.microsoft.com/office/powerpoint/2010/main" val="325545812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69F02CF-1F33-DBFD-C3F3-1C27719414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Processo prático para cálculo do </a:t>
            </a:r>
            <a:r>
              <a:rPr lang="pt-BR" dirty="0" err="1"/>
              <a:t>mmc</a:t>
            </a: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5F89585-86C4-5AED-1A9A-3062FD6F24D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dirty="0"/>
              <a:t>Digamos que vamos calcular o </a:t>
            </a:r>
            <a:r>
              <a:rPr lang="pt-BR" dirty="0" err="1"/>
              <a:t>mmc</a:t>
            </a:r>
            <a:r>
              <a:rPr lang="pt-BR" dirty="0"/>
              <a:t> entre 14, 70, e 20</a:t>
            </a:r>
          </a:p>
          <a:p>
            <a:pPr lvl="1"/>
            <a:r>
              <a:rPr lang="pt-BR" dirty="0"/>
              <a:t>1-fatorar os números</a:t>
            </a:r>
          </a:p>
          <a:p>
            <a:pPr lvl="1"/>
            <a:endParaRPr lang="pt-BR" dirty="0"/>
          </a:p>
          <a:p>
            <a:pPr lvl="1"/>
            <a:endParaRPr lang="pt-BR" dirty="0"/>
          </a:p>
          <a:p>
            <a:pPr lvl="1"/>
            <a:endParaRPr lang="pt-BR" dirty="0"/>
          </a:p>
          <a:p>
            <a:pPr lvl="1"/>
            <a:endParaRPr lang="pt-BR" dirty="0"/>
          </a:p>
          <a:p>
            <a:pPr lvl="1"/>
            <a:endParaRPr lang="pt-BR" dirty="0"/>
          </a:p>
          <a:p>
            <a:pPr lvl="1"/>
            <a:endParaRPr lang="pt-BR" dirty="0"/>
          </a:p>
          <a:p>
            <a:pPr lvl="1"/>
            <a:endParaRPr lang="pt-BR" dirty="0"/>
          </a:p>
          <a:p>
            <a:pPr lvl="1"/>
            <a:endParaRPr lang="pt-BR" dirty="0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6EE00F79-2541-28CD-3134-DDCF02B812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09377" y="2943097"/>
            <a:ext cx="2386762" cy="1455604"/>
          </a:xfrm>
          <a:prstGeom prst="rect">
            <a:avLst/>
          </a:prstGeom>
        </p:spPr>
      </p:pic>
      <p:sp>
        <p:nvSpPr>
          <p:cNvPr id="4" name="Retângulo 3">
            <a:extLst>
              <a:ext uri="{FF2B5EF4-FFF2-40B4-BE49-F238E27FC236}">
                <a16:creationId xmlns:a16="http://schemas.microsoft.com/office/drawing/2014/main" id="{CCC3D61F-A324-3EFC-D872-5DA23919B47B}"/>
              </a:ext>
            </a:extLst>
          </p:cNvPr>
          <p:cNvSpPr/>
          <p:nvPr/>
        </p:nvSpPr>
        <p:spPr>
          <a:xfrm>
            <a:off x="512405" y="6687498"/>
            <a:ext cx="11403563" cy="170502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dirty="0"/>
              <a:t>Luiz Fernando de Andrade Gadêlha – aulasluizgadelha@gmail.com</a:t>
            </a:r>
          </a:p>
        </p:txBody>
      </p:sp>
    </p:spTree>
    <p:extLst>
      <p:ext uri="{BB962C8B-B14F-4D97-AF65-F5344CB8AC3E}">
        <p14:creationId xmlns:p14="http://schemas.microsoft.com/office/powerpoint/2010/main" val="412000217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69F02CF-1F33-DBFD-C3F3-1C27719414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Processo prático para cálculo do </a:t>
            </a:r>
            <a:r>
              <a:rPr lang="pt-BR" dirty="0" err="1"/>
              <a:t>mmc</a:t>
            </a: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5F89585-86C4-5AED-1A9A-3062FD6F24D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pt-BR" dirty="0"/>
              <a:t>Digamos que vamos calcular o </a:t>
            </a:r>
            <a:r>
              <a:rPr lang="pt-BR" dirty="0" err="1"/>
              <a:t>mmc</a:t>
            </a:r>
            <a:r>
              <a:rPr lang="pt-BR" dirty="0"/>
              <a:t> entre 14, 70, e 20</a:t>
            </a:r>
          </a:p>
          <a:p>
            <a:pPr lvl="1"/>
            <a:r>
              <a:rPr lang="pt-BR" dirty="0"/>
              <a:t>1-fatorar os números</a:t>
            </a:r>
          </a:p>
          <a:p>
            <a:pPr lvl="1"/>
            <a:endParaRPr lang="pt-BR" dirty="0"/>
          </a:p>
          <a:p>
            <a:pPr lvl="1"/>
            <a:endParaRPr lang="pt-BR" dirty="0"/>
          </a:p>
          <a:p>
            <a:pPr lvl="1"/>
            <a:endParaRPr lang="pt-BR" dirty="0"/>
          </a:p>
          <a:p>
            <a:pPr lvl="1"/>
            <a:endParaRPr lang="pt-BR" dirty="0"/>
          </a:p>
          <a:p>
            <a:pPr lvl="1"/>
            <a:endParaRPr lang="pt-BR" dirty="0"/>
          </a:p>
          <a:p>
            <a:pPr lvl="1"/>
            <a:endParaRPr lang="pt-BR" dirty="0"/>
          </a:p>
          <a:p>
            <a:pPr lvl="1"/>
            <a:r>
              <a:rPr lang="pt-BR" dirty="0"/>
              <a:t>14 = 2          *7</a:t>
            </a:r>
          </a:p>
          <a:p>
            <a:pPr lvl="1"/>
            <a:r>
              <a:rPr lang="pt-BR" dirty="0"/>
              <a:t>70 = 2*    *5*7</a:t>
            </a:r>
          </a:p>
          <a:p>
            <a:pPr lvl="1"/>
            <a:r>
              <a:rPr lang="pt-BR" dirty="0"/>
              <a:t>20 = 2²    *5</a:t>
            </a:r>
          </a:p>
          <a:p>
            <a:pPr marL="457200" lvl="1" indent="0">
              <a:buNone/>
            </a:pPr>
            <a:r>
              <a:rPr lang="pt-BR" dirty="0"/>
              <a:t>MMC  = 2²    *5*7 = 140( pegamos o 2 com maior expoente ) </a:t>
            </a:r>
          </a:p>
          <a:p>
            <a:pPr lvl="1"/>
            <a:endParaRPr lang="pt-BR" dirty="0"/>
          </a:p>
          <a:p>
            <a:pPr lvl="1"/>
            <a:endParaRPr lang="pt-BR" dirty="0"/>
          </a:p>
          <a:p>
            <a:pPr lvl="1"/>
            <a:endParaRPr lang="pt-BR" dirty="0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6EE00F79-2541-28CD-3134-DDCF02B812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09377" y="2943097"/>
            <a:ext cx="2386762" cy="14556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974090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DD04575-2937-746C-3FB1-01433FDDE8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MMC em concursos públicos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46D2611-9C28-BF9F-697B-66804A2B22C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Em geral, concursos públicos cobram  o raciocínio “se A acontece em tal período e B em tal período, quando A e B ocorrerem simultaneamente”</a:t>
            </a: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21F7270D-A287-CBA5-5C45-F5502AEBF247}"/>
              </a:ext>
            </a:extLst>
          </p:cNvPr>
          <p:cNvSpPr/>
          <p:nvPr/>
        </p:nvSpPr>
        <p:spPr>
          <a:xfrm>
            <a:off x="512405" y="6687498"/>
            <a:ext cx="11403563" cy="170502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dirty="0"/>
              <a:t>Luiz Fernando de Andrade Gadêlha – aulasluizgadelha@gmail.com</a:t>
            </a:r>
          </a:p>
        </p:txBody>
      </p:sp>
    </p:spTree>
    <p:extLst>
      <p:ext uri="{BB962C8B-B14F-4D97-AF65-F5344CB8AC3E}">
        <p14:creationId xmlns:p14="http://schemas.microsoft.com/office/powerpoint/2010/main" val="175054673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64E088A-9AB9-3570-9E47-B71375C3CD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Questão VUNESP</a:t>
            </a:r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8CB832F1-A0D2-8B0D-E67A-37CCB8BB08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1384" y="1609241"/>
            <a:ext cx="9830652" cy="3330229"/>
          </a:xfrm>
          <a:prstGeom prst="rect">
            <a:avLst/>
          </a:prstGeom>
        </p:spPr>
      </p:pic>
      <p:pic>
        <p:nvPicPr>
          <p:cNvPr id="8" name="Imagem 7">
            <a:extLst>
              <a:ext uri="{FF2B5EF4-FFF2-40B4-BE49-F238E27FC236}">
                <a16:creationId xmlns:a16="http://schemas.microsoft.com/office/drawing/2014/main" id="{7B71F7D9-778B-14DD-5DBE-01629AD1954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33447" y="428082"/>
            <a:ext cx="1828958" cy="929721"/>
          </a:xfrm>
          <a:prstGeom prst="rect">
            <a:avLst/>
          </a:prstGeom>
        </p:spPr>
      </p:pic>
      <p:sp>
        <p:nvSpPr>
          <p:cNvPr id="12" name="Retângulo 11">
            <a:extLst>
              <a:ext uri="{FF2B5EF4-FFF2-40B4-BE49-F238E27FC236}">
                <a16:creationId xmlns:a16="http://schemas.microsoft.com/office/drawing/2014/main" id="{EE699E24-3433-DDC6-27D5-B42682727A0E}"/>
              </a:ext>
            </a:extLst>
          </p:cNvPr>
          <p:cNvSpPr/>
          <p:nvPr/>
        </p:nvSpPr>
        <p:spPr>
          <a:xfrm>
            <a:off x="512405" y="6687498"/>
            <a:ext cx="11403563" cy="170502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dirty="0"/>
              <a:t>Luiz Fernando de Andrade Gadêlha – aulasluizgadelha@gmail.com</a:t>
            </a:r>
          </a:p>
        </p:txBody>
      </p:sp>
    </p:spTree>
    <p:extLst>
      <p:ext uri="{BB962C8B-B14F-4D97-AF65-F5344CB8AC3E}">
        <p14:creationId xmlns:p14="http://schemas.microsoft.com/office/powerpoint/2010/main" val="426948187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2F8EC73-2C9A-ED52-A3BB-BF51A062A1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 dirty="0"/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8811C7F2-6248-E107-89A2-573D68CF64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50730" y="2223228"/>
            <a:ext cx="5474169" cy="2230912"/>
          </a:xfrm>
          <a:prstGeom prst="rect">
            <a:avLst/>
          </a:prstGeom>
        </p:spPr>
      </p:pic>
      <p:sp>
        <p:nvSpPr>
          <p:cNvPr id="5" name="Retângulo 4">
            <a:extLst>
              <a:ext uri="{FF2B5EF4-FFF2-40B4-BE49-F238E27FC236}">
                <a16:creationId xmlns:a16="http://schemas.microsoft.com/office/drawing/2014/main" id="{2A48C5F9-17DA-FE05-12B1-08DE4A61A87D}"/>
              </a:ext>
            </a:extLst>
          </p:cNvPr>
          <p:cNvSpPr/>
          <p:nvPr/>
        </p:nvSpPr>
        <p:spPr>
          <a:xfrm>
            <a:off x="512405" y="6687498"/>
            <a:ext cx="11403563" cy="170502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dirty="0"/>
              <a:t>Luiz Fernando de Andrade Gadêlha – aulasluizgadelha@gmail.com</a:t>
            </a:r>
          </a:p>
        </p:txBody>
      </p:sp>
    </p:spTree>
    <p:extLst>
      <p:ext uri="{BB962C8B-B14F-4D97-AF65-F5344CB8AC3E}">
        <p14:creationId xmlns:p14="http://schemas.microsoft.com/office/powerpoint/2010/main" val="38526392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BAF3DDE-851B-9A6D-7F1D-C906E89BB9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MMC - Decomposição Simultânea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0E1F7A06-5660-9137-7CEC-B29A8DEFB120}"/>
              </a:ext>
            </a:extLst>
          </p:cNvPr>
          <p:cNvSpPr txBox="1"/>
          <p:nvPr/>
        </p:nvSpPr>
        <p:spPr>
          <a:xfrm>
            <a:off x="1296955" y="2164702"/>
            <a:ext cx="9964523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3200" dirty="0"/>
              <a:t>1. Vamos fazer a fatoração novamente,</a:t>
            </a:r>
          </a:p>
          <a:p>
            <a:r>
              <a:rPr lang="pt-BR" sz="3200" dirty="0"/>
              <a:t> mas agora vamos fazer todas fatorações simultaneamente: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2D022E3B-60F3-B35D-0EE5-D36982EEDE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26072" y="3635131"/>
            <a:ext cx="3063505" cy="2164268"/>
          </a:xfrm>
          <a:prstGeom prst="rect">
            <a:avLst/>
          </a:prstGeom>
        </p:spPr>
      </p:pic>
      <p:sp>
        <p:nvSpPr>
          <p:cNvPr id="6" name="Retângulo 5">
            <a:extLst>
              <a:ext uri="{FF2B5EF4-FFF2-40B4-BE49-F238E27FC236}">
                <a16:creationId xmlns:a16="http://schemas.microsoft.com/office/drawing/2014/main" id="{D9B00E63-591E-5E1E-C1D3-2270478A1A0E}"/>
              </a:ext>
            </a:extLst>
          </p:cNvPr>
          <p:cNvSpPr/>
          <p:nvPr/>
        </p:nvSpPr>
        <p:spPr>
          <a:xfrm>
            <a:off x="512405" y="6687498"/>
            <a:ext cx="11403563" cy="170502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dirty="0"/>
              <a:t>Luiz Fernando de Andrade Gadêlha – aulasluizgadelha@gmail.com</a:t>
            </a:r>
          </a:p>
        </p:txBody>
      </p:sp>
    </p:spTree>
    <p:extLst>
      <p:ext uri="{BB962C8B-B14F-4D97-AF65-F5344CB8AC3E}">
        <p14:creationId xmlns:p14="http://schemas.microsoft.com/office/powerpoint/2010/main" val="64203554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FC1AFB9-3568-4BC7-76D4-B9AD491BE7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MMC – Decomposição simultânea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A04C5396-F628-7AA4-78D2-5A73F6267DD5}"/>
              </a:ext>
            </a:extLst>
          </p:cNvPr>
          <p:cNvSpPr txBox="1"/>
          <p:nvPr/>
        </p:nvSpPr>
        <p:spPr>
          <a:xfrm>
            <a:off x="1141413" y="2083092"/>
            <a:ext cx="777865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 dirty="0"/>
              <a:t>2- Nessa fatoração, vamos usar dividir os números até que não existam mais o mesmo fator, por exemplo, nessa fatoração dividimos por 2 2 vezes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503D7058-307A-9B50-5603-9930329745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27525" y="3131902"/>
            <a:ext cx="4772769" cy="2391820"/>
          </a:xfrm>
          <a:prstGeom prst="rect">
            <a:avLst/>
          </a:prstGeom>
        </p:spPr>
      </p:pic>
      <p:sp>
        <p:nvSpPr>
          <p:cNvPr id="6" name="Retângulo 5">
            <a:extLst>
              <a:ext uri="{FF2B5EF4-FFF2-40B4-BE49-F238E27FC236}">
                <a16:creationId xmlns:a16="http://schemas.microsoft.com/office/drawing/2014/main" id="{BBBF600F-2E45-6C47-5E21-DA5CD3A53E0F}"/>
              </a:ext>
            </a:extLst>
          </p:cNvPr>
          <p:cNvSpPr/>
          <p:nvPr/>
        </p:nvSpPr>
        <p:spPr>
          <a:xfrm>
            <a:off x="512405" y="6687498"/>
            <a:ext cx="11403563" cy="170502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dirty="0"/>
              <a:t>Luiz Fernando de Andrade Gadêlha – aulasluizgadelha@gmail.com</a:t>
            </a:r>
          </a:p>
        </p:txBody>
      </p:sp>
    </p:spTree>
    <p:extLst>
      <p:ext uri="{BB962C8B-B14F-4D97-AF65-F5344CB8AC3E}">
        <p14:creationId xmlns:p14="http://schemas.microsoft.com/office/powerpoint/2010/main" val="83010975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F661702-B36D-31EB-B48D-0EB0B8E7F1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MMC – Decomposição simultânea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6333B1FD-6922-FC6D-0E81-2C68174D8024}"/>
              </a:ext>
            </a:extLst>
          </p:cNvPr>
          <p:cNvSpPr txBox="1"/>
          <p:nvPr/>
        </p:nvSpPr>
        <p:spPr>
          <a:xfrm>
            <a:off x="1268963" y="2015412"/>
            <a:ext cx="755779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dirty="0"/>
              <a:t>3- vamos continuar a fatoração simultânea até que todos os números cheguem a 1  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44B20436-383F-E3A1-79B6-B8E175B2F1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17170" y="2937428"/>
            <a:ext cx="3520745" cy="1897544"/>
          </a:xfrm>
          <a:prstGeom prst="rect">
            <a:avLst/>
          </a:prstGeom>
        </p:spPr>
      </p:pic>
      <p:sp>
        <p:nvSpPr>
          <p:cNvPr id="6" name="CaixaDeTexto 5">
            <a:extLst>
              <a:ext uri="{FF2B5EF4-FFF2-40B4-BE49-F238E27FC236}">
                <a16:creationId xmlns:a16="http://schemas.microsoft.com/office/drawing/2014/main" id="{ECF4AD17-30E3-F859-AB36-50491F24A2C6}"/>
              </a:ext>
            </a:extLst>
          </p:cNvPr>
          <p:cNvSpPr txBox="1"/>
          <p:nvPr/>
        </p:nvSpPr>
        <p:spPr>
          <a:xfrm>
            <a:off x="1446245" y="5411755"/>
            <a:ext cx="299088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O MMC é, portanto, 2*2*5*7 </a:t>
            </a:r>
          </a:p>
          <a:p>
            <a:r>
              <a:rPr lang="pt-BR" dirty="0"/>
              <a:t>MCC(14,70,20) = 140</a:t>
            </a:r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62A3B05B-D7DF-A3C7-8EAE-E50152D088F2}"/>
              </a:ext>
            </a:extLst>
          </p:cNvPr>
          <p:cNvSpPr/>
          <p:nvPr/>
        </p:nvSpPr>
        <p:spPr>
          <a:xfrm>
            <a:off x="512405" y="6687498"/>
            <a:ext cx="11403563" cy="170502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dirty="0"/>
              <a:t>Luiz Fernando de Andrade Gadêlha – aulasluizgadelha@gmail.com</a:t>
            </a:r>
          </a:p>
        </p:txBody>
      </p:sp>
    </p:spTree>
    <p:extLst>
      <p:ext uri="{BB962C8B-B14F-4D97-AF65-F5344CB8AC3E}">
        <p14:creationId xmlns:p14="http://schemas.microsoft.com/office/powerpoint/2010/main" val="2597950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FC73F37-177B-6A36-42F2-3255982D4A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Proposições Lógicas - tipos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DF5A3A00-2DEF-4C33-73AD-E03DE18ADB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0468" y="2299565"/>
            <a:ext cx="10503594" cy="15446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376859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FEF2805-3A18-A64B-054A-FAB6C11E46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Proposições Lógicas conectores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30C63D68-D13C-ABEE-65AE-CAB3701749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5412" y="2272925"/>
            <a:ext cx="6635380" cy="31948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305627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2A73B15-89E3-A4EA-2722-32E3DD63DF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Proposições Lógicas - Conectores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F78318EB-3561-F043-CEF2-86A4160E6B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61811" y="2177205"/>
            <a:ext cx="8428778" cy="3719742"/>
          </a:xfrm>
          <a:prstGeom prst="rect">
            <a:avLst/>
          </a:prstGeom>
        </p:spPr>
      </p:pic>
      <p:sp>
        <p:nvSpPr>
          <p:cNvPr id="5" name="Retângulo 4">
            <a:extLst>
              <a:ext uri="{FF2B5EF4-FFF2-40B4-BE49-F238E27FC236}">
                <a16:creationId xmlns:a16="http://schemas.microsoft.com/office/drawing/2014/main" id="{EC84247B-23F1-7F7A-0CD3-CE7D08159FFB}"/>
              </a:ext>
            </a:extLst>
          </p:cNvPr>
          <p:cNvSpPr/>
          <p:nvPr/>
        </p:nvSpPr>
        <p:spPr>
          <a:xfrm>
            <a:off x="512405" y="6687498"/>
            <a:ext cx="11403563" cy="170502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dirty="0"/>
              <a:t>Luiz Fernando de Andrade Gadêlha – aulasluizgadelha@gmail.com</a:t>
            </a:r>
          </a:p>
        </p:txBody>
      </p:sp>
    </p:spTree>
    <p:extLst>
      <p:ext uri="{BB962C8B-B14F-4D97-AF65-F5344CB8AC3E}">
        <p14:creationId xmlns:p14="http://schemas.microsoft.com/office/powerpoint/2010/main" val="298115583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7E605A3-7DB7-556E-D106-CB54E7E261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Proposições lógicas – tabela verdade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001A4D2-1597-3BC7-B565-628DBA6A424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P1: João é alto</a:t>
            </a:r>
          </a:p>
          <a:p>
            <a:r>
              <a:rPr lang="pt-BR" dirty="0"/>
              <a:t>P2: João é rico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3C7360FA-22E4-7CD2-E0E2-AD8EE919BC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518" y="3877122"/>
            <a:ext cx="3334987" cy="2082551"/>
          </a:xfrm>
          <a:prstGeom prst="rect">
            <a:avLst/>
          </a:prstGeom>
        </p:spPr>
      </p:pic>
      <p:sp>
        <p:nvSpPr>
          <p:cNvPr id="7" name="CaixaDeTexto 6">
            <a:extLst>
              <a:ext uri="{FF2B5EF4-FFF2-40B4-BE49-F238E27FC236}">
                <a16:creationId xmlns:a16="http://schemas.microsoft.com/office/drawing/2014/main" id="{ABEC5C2E-8A8E-912A-1B6F-6120685B69B4}"/>
              </a:ext>
            </a:extLst>
          </p:cNvPr>
          <p:cNvSpPr txBox="1"/>
          <p:nvPr/>
        </p:nvSpPr>
        <p:spPr>
          <a:xfrm>
            <a:off x="1259633" y="3526451"/>
            <a:ext cx="19681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João é alto E é rico</a:t>
            </a:r>
          </a:p>
        </p:txBody>
      </p:sp>
      <p:pic>
        <p:nvPicPr>
          <p:cNvPr id="9" name="Imagem 8">
            <a:extLst>
              <a:ext uri="{FF2B5EF4-FFF2-40B4-BE49-F238E27FC236}">
                <a16:creationId xmlns:a16="http://schemas.microsoft.com/office/drawing/2014/main" id="{F7FC2B78-8131-CF06-B804-ADFFFA5F131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44593" y="3912375"/>
            <a:ext cx="5384395" cy="2047298"/>
          </a:xfrm>
          <a:prstGeom prst="rect">
            <a:avLst/>
          </a:prstGeom>
        </p:spPr>
      </p:pic>
      <p:sp>
        <p:nvSpPr>
          <p:cNvPr id="10" name="CaixaDeTexto 9">
            <a:extLst>
              <a:ext uri="{FF2B5EF4-FFF2-40B4-BE49-F238E27FC236}">
                <a16:creationId xmlns:a16="http://schemas.microsoft.com/office/drawing/2014/main" id="{5CA15C22-09AF-D1AD-547A-37F1065D5967}"/>
              </a:ext>
            </a:extLst>
          </p:cNvPr>
          <p:cNvSpPr txBox="1"/>
          <p:nvPr/>
        </p:nvSpPr>
        <p:spPr>
          <a:xfrm>
            <a:off x="6588871" y="3575310"/>
            <a:ext cx="23753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João é alto E não é rico</a:t>
            </a:r>
          </a:p>
        </p:txBody>
      </p:sp>
      <p:sp>
        <p:nvSpPr>
          <p:cNvPr id="11" name="Retângulo 10">
            <a:extLst>
              <a:ext uri="{FF2B5EF4-FFF2-40B4-BE49-F238E27FC236}">
                <a16:creationId xmlns:a16="http://schemas.microsoft.com/office/drawing/2014/main" id="{D8BC24A2-9395-27B8-84C1-FA52906242A2}"/>
              </a:ext>
            </a:extLst>
          </p:cNvPr>
          <p:cNvSpPr/>
          <p:nvPr/>
        </p:nvSpPr>
        <p:spPr>
          <a:xfrm>
            <a:off x="512405" y="6687498"/>
            <a:ext cx="11403563" cy="170502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dirty="0"/>
              <a:t>Luiz Fernando de Andrade Gadêlha – aulasluizgadelha@gmail.com</a:t>
            </a:r>
          </a:p>
        </p:txBody>
      </p:sp>
    </p:spTree>
    <p:extLst>
      <p:ext uri="{BB962C8B-B14F-4D97-AF65-F5344CB8AC3E}">
        <p14:creationId xmlns:p14="http://schemas.microsoft.com/office/powerpoint/2010/main" val="288232408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5A2761C-DDC9-25D5-49A5-EAB10F984F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Negação de proposições compostas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4AC94557-E271-2F75-099F-4B55A4186A1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Se A= João ganhou na loteria</a:t>
            </a:r>
          </a:p>
          <a:p>
            <a:r>
              <a:rPr lang="pt-BR" dirty="0"/>
              <a:t>E B = Maria é flamenguista</a:t>
            </a:r>
          </a:p>
          <a:p>
            <a:r>
              <a:rPr lang="pt-BR" dirty="0"/>
              <a:t>A negação da proposição composta A^B = João ganhou na loteria </a:t>
            </a:r>
            <a:br>
              <a:rPr lang="pt-BR" dirty="0"/>
            </a:br>
            <a:r>
              <a:rPr lang="pt-BR" dirty="0"/>
              <a:t>E Maria é flamenguista é:</a:t>
            </a:r>
          </a:p>
          <a:p>
            <a:r>
              <a:rPr lang="pt-BR" dirty="0"/>
              <a:t>~(A^B)  = ~A v ~B ( ou seja, como fazemos para que A^B seja falso? )</a:t>
            </a:r>
          </a:p>
          <a:p>
            <a:r>
              <a:rPr lang="pt-BR" dirty="0"/>
              <a:t> o E virou um OU e as proposições  foram negadas</a:t>
            </a: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873256E8-6649-B601-C921-E3B44640552C}"/>
              </a:ext>
            </a:extLst>
          </p:cNvPr>
          <p:cNvSpPr/>
          <p:nvPr/>
        </p:nvSpPr>
        <p:spPr>
          <a:xfrm>
            <a:off x="512405" y="6687498"/>
            <a:ext cx="11403563" cy="170502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dirty="0"/>
              <a:t>Luiz Fernando de Andrade Gadêlha – aulasluizgadelha@gmail.com</a:t>
            </a:r>
          </a:p>
        </p:txBody>
      </p:sp>
    </p:spTree>
    <p:extLst>
      <p:ext uri="{BB962C8B-B14F-4D97-AF65-F5344CB8AC3E}">
        <p14:creationId xmlns:p14="http://schemas.microsoft.com/office/powerpoint/2010/main" val="124639722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567919B-AA70-0E3D-89CC-0487C94FE7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Implicação Lógica</a:t>
            </a:r>
          </a:p>
        </p:txBody>
      </p:sp>
      <p:pic>
        <p:nvPicPr>
          <p:cNvPr id="13" name="Espaço Reservado para Conteúdo 12">
            <a:extLst>
              <a:ext uri="{FF2B5EF4-FFF2-40B4-BE49-F238E27FC236}">
                <a16:creationId xmlns:a16="http://schemas.microsoft.com/office/drawing/2014/main" id="{ABE2DCB9-5D23-D7D3-B84A-19F4E7B7EA6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198919" y="2329996"/>
            <a:ext cx="8899325" cy="1327604"/>
          </a:xfrm>
        </p:spPr>
      </p:pic>
      <p:pic>
        <p:nvPicPr>
          <p:cNvPr id="15" name="Imagem 14">
            <a:extLst>
              <a:ext uri="{FF2B5EF4-FFF2-40B4-BE49-F238E27FC236}">
                <a16:creationId xmlns:a16="http://schemas.microsoft.com/office/drawing/2014/main" id="{F16D5DD9-87FF-D844-FBC4-BDE635D5D93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85644" y="4175261"/>
            <a:ext cx="3266016" cy="17683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983253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C3DD24E-DE65-FFD2-EE65-5BBE7E1A69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Exercícios</a:t>
            </a:r>
          </a:p>
        </p:txBody>
      </p:sp>
      <p:pic>
        <p:nvPicPr>
          <p:cNvPr id="5" name="Espaço Reservado para Conteúdo 4">
            <a:extLst>
              <a:ext uri="{FF2B5EF4-FFF2-40B4-BE49-F238E27FC236}">
                <a16:creationId xmlns:a16="http://schemas.microsoft.com/office/drawing/2014/main" id="{28E062AF-8F1D-E20C-26EE-14B01238EE0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186707" y="2279023"/>
            <a:ext cx="9815411" cy="3482642"/>
          </a:xfrm>
        </p:spPr>
      </p:pic>
    </p:spTree>
    <p:extLst>
      <p:ext uri="{BB962C8B-B14F-4D97-AF65-F5344CB8AC3E}">
        <p14:creationId xmlns:p14="http://schemas.microsoft.com/office/powerpoint/2010/main" val="183703084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1011B62-81A1-6F49-F513-BA57B5E8F8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Exercícios</a:t>
            </a:r>
          </a:p>
        </p:txBody>
      </p:sp>
      <p:pic>
        <p:nvPicPr>
          <p:cNvPr id="5" name="Espaço Reservado para Conteúdo 4">
            <a:extLst>
              <a:ext uri="{FF2B5EF4-FFF2-40B4-BE49-F238E27FC236}">
                <a16:creationId xmlns:a16="http://schemas.microsoft.com/office/drawing/2014/main" id="{2D47B62A-9812-0E9F-2A6E-F42E4CE29EC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266724" y="2259971"/>
            <a:ext cx="9655377" cy="3520745"/>
          </a:xfrm>
        </p:spPr>
      </p:pic>
    </p:spTree>
    <p:extLst>
      <p:ext uri="{BB962C8B-B14F-4D97-AF65-F5344CB8AC3E}">
        <p14:creationId xmlns:p14="http://schemas.microsoft.com/office/powerpoint/2010/main" val="203143536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50DED78-A758-60C7-1C06-F479D977EA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Exercícios</a:t>
            </a:r>
          </a:p>
        </p:txBody>
      </p:sp>
      <p:pic>
        <p:nvPicPr>
          <p:cNvPr id="5" name="Espaço Reservado para Conteúdo 4">
            <a:extLst>
              <a:ext uri="{FF2B5EF4-FFF2-40B4-BE49-F238E27FC236}">
                <a16:creationId xmlns:a16="http://schemas.microsoft.com/office/drawing/2014/main" id="{1598E6E0-1684-680E-81F4-9A932244137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963890" y="2248337"/>
            <a:ext cx="7702623" cy="3815414"/>
          </a:xfrm>
        </p:spPr>
      </p:pic>
    </p:spTree>
    <p:extLst>
      <p:ext uri="{BB962C8B-B14F-4D97-AF65-F5344CB8AC3E}">
        <p14:creationId xmlns:p14="http://schemas.microsoft.com/office/powerpoint/2010/main" val="197955838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1A25043-B68E-12DD-1E88-D68184F3F4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Exercícios</a:t>
            </a:r>
          </a:p>
        </p:txBody>
      </p:sp>
      <p:pic>
        <p:nvPicPr>
          <p:cNvPr id="5" name="Espaço Reservado para Conteúdo 4">
            <a:extLst>
              <a:ext uri="{FF2B5EF4-FFF2-40B4-BE49-F238E27FC236}">
                <a16:creationId xmlns:a16="http://schemas.microsoft.com/office/drawing/2014/main" id="{DCF117AB-8666-586B-1AB8-2D5C625B12E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654989" y="2097088"/>
            <a:ext cx="6498342" cy="3786934"/>
          </a:xfrm>
        </p:spPr>
      </p:pic>
    </p:spTree>
    <p:extLst>
      <p:ext uri="{BB962C8B-B14F-4D97-AF65-F5344CB8AC3E}">
        <p14:creationId xmlns:p14="http://schemas.microsoft.com/office/powerpoint/2010/main" val="190712513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AC20624-9981-3CF8-999E-58B653720B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Exercícios</a:t>
            </a:r>
          </a:p>
        </p:txBody>
      </p:sp>
      <p:pic>
        <p:nvPicPr>
          <p:cNvPr id="5" name="Espaço Reservado para Conteúdo 4">
            <a:extLst>
              <a:ext uri="{FF2B5EF4-FFF2-40B4-BE49-F238E27FC236}">
                <a16:creationId xmlns:a16="http://schemas.microsoft.com/office/drawing/2014/main" id="{5354AB48-D868-6C08-3C52-0B7D2EE21D5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421895" y="2327371"/>
            <a:ext cx="9771267" cy="2972417"/>
          </a:xfrm>
        </p:spPr>
      </p:pic>
    </p:spTree>
    <p:extLst>
      <p:ext uri="{BB962C8B-B14F-4D97-AF65-F5344CB8AC3E}">
        <p14:creationId xmlns:p14="http://schemas.microsoft.com/office/powerpoint/2010/main" val="416352113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458C7B7-C432-EF36-B74A-681AE4346A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Exercícios</a:t>
            </a:r>
          </a:p>
        </p:txBody>
      </p:sp>
      <p:pic>
        <p:nvPicPr>
          <p:cNvPr id="5" name="Espaço Reservado para Conteúdo 4">
            <a:extLst>
              <a:ext uri="{FF2B5EF4-FFF2-40B4-BE49-F238E27FC236}">
                <a16:creationId xmlns:a16="http://schemas.microsoft.com/office/drawing/2014/main" id="{34FC33E7-D469-332F-03BE-99BA9BCA9D7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538065" y="2367635"/>
            <a:ext cx="8982918" cy="2915599"/>
          </a:xfrm>
        </p:spPr>
      </p:pic>
    </p:spTree>
    <p:extLst>
      <p:ext uri="{BB962C8B-B14F-4D97-AF65-F5344CB8AC3E}">
        <p14:creationId xmlns:p14="http://schemas.microsoft.com/office/powerpoint/2010/main" val="423245255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429B7DB-D9F3-5769-C4FE-E4270632FF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Exercícios</a:t>
            </a:r>
          </a:p>
        </p:txBody>
      </p:sp>
      <p:pic>
        <p:nvPicPr>
          <p:cNvPr id="5" name="Espaço Reservado para Conteúdo 4">
            <a:extLst>
              <a:ext uri="{FF2B5EF4-FFF2-40B4-BE49-F238E27FC236}">
                <a16:creationId xmlns:a16="http://schemas.microsoft.com/office/drawing/2014/main" id="{6746C8C0-A5B1-D371-9AAF-C49F3C5F5EA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962506" y="2790872"/>
            <a:ext cx="8512103" cy="2499586"/>
          </a:xfrm>
        </p:spPr>
      </p:pic>
    </p:spTree>
    <p:extLst>
      <p:ext uri="{BB962C8B-B14F-4D97-AF65-F5344CB8AC3E}">
        <p14:creationId xmlns:p14="http://schemas.microsoft.com/office/powerpoint/2010/main" val="88671699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36F909D-AC00-5582-2EE2-249034B134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Exercícios</a:t>
            </a:r>
          </a:p>
        </p:txBody>
      </p:sp>
      <p:pic>
        <p:nvPicPr>
          <p:cNvPr id="5" name="Espaço Reservado para Conteúdo 4">
            <a:extLst>
              <a:ext uri="{FF2B5EF4-FFF2-40B4-BE49-F238E27FC236}">
                <a16:creationId xmlns:a16="http://schemas.microsoft.com/office/drawing/2014/main" id="{2F32B207-C061-D061-55EC-6D8E95F9D15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584124" y="2384118"/>
            <a:ext cx="8735548" cy="2885950"/>
          </a:xfrm>
        </p:spPr>
      </p:pic>
    </p:spTree>
    <p:extLst>
      <p:ext uri="{BB962C8B-B14F-4D97-AF65-F5344CB8AC3E}">
        <p14:creationId xmlns:p14="http://schemas.microsoft.com/office/powerpoint/2010/main" val="36854611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813EC2B-CA65-A35B-18CC-7A7F3097FF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Exercícios</a:t>
            </a:r>
          </a:p>
        </p:txBody>
      </p:sp>
      <p:pic>
        <p:nvPicPr>
          <p:cNvPr id="5" name="Espaço Reservado para Conteúdo 4">
            <a:extLst>
              <a:ext uri="{FF2B5EF4-FFF2-40B4-BE49-F238E27FC236}">
                <a16:creationId xmlns:a16="http://schemas.microsoft.com/office/drawing/2014/main" id="{3E762EB4-2996-4F0D-C4B4-106606CCA4E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089499" y="2225717"/>
            <a:ext cx="8155513" cy="3227266"/>
          </a:xfrm>
        </p:spPr>
      </p:pic>
    </p:spTree>
    <p:extLst>
      <p:ext uri="{BB962C8B-B14F-4D97-AF65-F5344CB8AC3E}">
        <p14:creationId xmlns:p14="http://schemas.microsoft.com/office/powerpoint/2010/main" val="281038331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F69440A-5B81-21EF-A1FF-341BA3C74A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C50A00E-8705-8EFC-FD98-F3988586154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9757438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99F69FE-E306-7DD3-CFE6-98C5A09B1B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Como saber se um número é divisor de outro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9EDAB77-56C8-FBC9-8DCE-5614C23AEAC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610431373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ircuito">
  <a:themeElements>
    <a:clrScheme name="Circuit">
      <a:dk1>
        <a:sysClr val="windowText" lastClr="000000"/>
      </a:dk1>
      <a:lt1>
        <a:sysClr val="window" lastClr="FFFFFF"/>
      </a:lt1>
      <a:dk2>
        <a:srgbClr val="134770"/>
      </a:dk2>
      <a:lt2>
        <a:srgbClr val="82FFFF"/>
      </a:lt2>
      <a:accent1>
        <a:srgbClr val="9ACD4C"/>
      </a:accent1>
      <a:accent2>
        <a:srgbClr val="FAA93A"/>
      </a:accent2>
      <a:accent3>
        <a:srgbClr val="D35940"/>
      </a:accent3>
      <a:accent4>
        <a:srgbClr val="B258D3"/>
      </a:accent4>
      <a:accent5>
        <a:srgbClr val="63A0CC"/>
      </a:accent5>
      <a:accent6>
        <a:srgbClr val="8AC4A7"/>
      </a:accent6>
      <a:hlink>
        <a:srgbClr val="B8FA56"/>
      </a:hlink>
      <a:folHlink>
        <a:srgbClr val="7AF8CC"/>
      </a:folHlink>
    </a:clrScheme>
    <a:fontScheme name="Circui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ircuit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94000"/>
                <a:satMod val="148000"/>
                <a:lumMod val="15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6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88000"/>
                <a:hueMod val="106000"/>
                <a:satMod val="140000"/>
                <a:lumMod val="54000"/>
              </a:schemeClr>
              <a:schemeClr val="phClr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ircuit" id="{0AC2F7E7-15F5-431C-B2A2-456FE929F56C}" vid="{0911B802-464C-4241-8DD9-B60FF88E379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TM04033919[[fn=Circuito]]</Template>
  <TotalTime>433</TotalTime>
  <Words>861</Words>
  <Application>Microsoft Office PowerPoint</Application>
  <PresentationFormat>Widescreen</PresentationFormat>
  <Paragraphs>126</Paragraphs>
  <Slides>32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32</vt:i4>
      </vt:variant>
    </vt:vector>
  </HeadingPairs>
  <TitlesOfParts>
    <vt:vector size="35" baseType="lpstr">
      <vt:lpstr>Arial</vt:lpstr>
      <vt:lpstr>Tw Cen MT</vt:lpstr>
      <vt:lpstr>Circuito</vt:lpstr>
      <vt:lpstr>Raciocínio Lógico</vt:lpstr>
      <vt:lpstr>Múltiplo de Um número</vt:lpstr>
      <vt:lpstr>Exemplo</vt:lpstr>
      <vt:lpstr>Mínimo Múltiplo Comum</vt:lpstr>
      <vt:lpstr>Apresentação do PowerPoint</vt:lpstr>
      <vt:lpstr>Exemplo: MMC entre 6 e 8</vt:lpstr>
      <vt:lpstr>Processo prático para cálculo do mmc</vt:lpstr>
      <vt:lpstr>Processo prático para cálculo do mmc</vt:lpstr>
      <vt:lpstr>Processo prático para cálculo do mmc</vt:lpstr>
      <vt:lpstr>MMC em concursos públicos</vt:lpstr>
      <vt:lpstr>Questão VUNESP</vt:lpstr>
      <vt:lpstr>Apresentação do PowerPoint</vt:lpstr>
      <vt:lpstr>MMC - Decomposição Simultânea</vt:lpstr>
      <vt:lpstr>MMC – Decomposição simultânea</vt:lpstr>
      <vt:lpstr>MMC – Decomposição simultânea</vt:lpstr>
      <vt:lpstr>Proposições Lógicas - tipos</vt:lpstr>
      <vt:lpstr>Proposições Lógicas conectores</vt:lpstr>
      <vt:lpstr>Proposições Lógicas - Conectores</vt:lpstr>
      <vt:lpstr>Proposições lógicas – tabela verdade</vt:lpstr>
      <vt:lpstr>Negação de proposições compostas</vt:lpstr>
      <vt:lpstr>Implicação Lógica</vt:lpstr>
      <vt:lpstr>Exercícios</vt:lpstr>
      <vt:lpstr>Exercícios</vt:lpstr>
      <vt:lpstr>Exercícios</vt:lpstr>
      <vt:lpstr>Exercícios</vt:lpstr>
      <vt:lpstr>Exercícios</vt:lpstr>
      <vt:lpstr>Exercícios</vt:lpstr>
      <vt:lpstr>Exercícios</vt:lpstr>
      <vt:lpstr>Exercícios</vt:lpstr>
      <vt:lpstr>Exercícios</vt:lpstr>
      <vt:lpstr>Apresentação do PowerPoint</vt:lpstr>
      <vt:lpstr>Como saber se um número é divisor de outro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luizfernandodag@outlook.com</dc:creator>
  <cp:lastModifiedBy>Luiz Gadêlha</cp:lastModifiedBy>
  <cp:revision>7</cp:revision>
  <dcterms:created xsi:type="dcterms:W3CDTF">2023-07-31T19:06:40Z</dcterms:created>
  <dcterms:modified xsi:type="dcterms:W3CDTF">2023-08-01T03:05:45Z</dcterms:modified>
</cp:coreProperties>
</file>