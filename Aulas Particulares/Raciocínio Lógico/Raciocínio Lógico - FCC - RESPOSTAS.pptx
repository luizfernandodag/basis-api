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8" r:id="rId8"/>
    <p:sldId id="267" r:id="rId9"/>
    <p:sldId id="266" r:id="rId10"/>
    <p:sldId id="263" r:id="rId11"/>
    <p:sldId id="264" r:id="rId12"/>
    <p:sldId id="265" r:id="rId13"/>
    <p:sldId id="269" r:id="rId14"/>
    <p:sldId id="270" r:id="rId15"/>
    <p:sldId id="271" r:id="rId16"/>
    <p:sldId id="272" r:id="rId17"/>
    <p:sldId id="273" r:id="rId18"/>
    <p:sldId id="276" r:id="rId19"/>
    <p:sldId id="274" r:id="rId20"/>
    <p:sldId id="277" r:id="rId21"/>
    <p:sldId id="286" r:id="rId22"/>
    <p:sldId id="278" r:id="rId23"/>
    <p:sldId id="279" r:id="rId24"/>
    <p:sldId id="280" r:id="rId25"/>
    <p:sldId id="281" r:id="rId26"/>
    <p:sldId id="284" r:id="rId27"/>
    <p:sldId id="285" r:id="rId28"/>
    <p:sldId id="290" r:id="rId29"/>
    <p:sldId id="291" r:id="rId30"/>
    <p:sldId id="292" r:id="rId31"/>
    <p:sldId id="293" r:id="rId32"/>
    <p:sldId id="287" r:id="rId33"/>
    <p:sldId id="282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7BA6E-724A-BA9E-0199-C526F86113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Raciocínio Lógico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C7721-08EF-E9A4-4DB8-E4A44E92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FCC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440847D-AECB-184B-25F9-D79B06146BC2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326230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r>
              <a:rPr lang="pt-BR" dirty="0"/>
              <a:t>Múltiplo de Um número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74E7E-F48B-C0A2-29F0-11C5A8A4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660849"/>
            <a:ext cx="11308701" cy="4130352"/>
          </a:xfrm>
        </p:spPr>
        <p:txBody>
          <a:bodyPr>
            <a:normAutofit/>
          </a:bodyPr>
          <a:lstStyle/>
          <a:p>
            <a:r>
              <a:rPr lang="pt-B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Para obtermos os múltiplos de um número qualquer, multiplicamos os números de um conjunto de números naturais por esse número</a:t>
            </a:r>
          </a:p>
          <a:p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O zero é múltiplo de qualquer número</a:t>
            </a:r>
          </a:p>
          <a:p>
            <a:r>
              <a:rPr lang="pt-B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 único múltiplo de zero é o próprio zero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60D347B-FDEB-43C5-762E-9D7D57A744EF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137987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1E923-DB16-363C-64E7-A4B0C3B97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248016-19BD-2A52-7EA3-3898716F6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Se quisermos ter os múltiplos de 3 vamos multiplicar por todos números naturais 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3 *[0,1,2,3,4,5,6,7,8,9,10....] = [0,3,6,9,12,15,18, 21, 24,27,30....]</a:t>
            </a:r>
          </a:p>
          <a:p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Outros exemplos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M(12) = [12,24,36,48,60....]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M(25) = [25,50,75,100....]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M(230) = [230, 460, 690, 920....]</a:t>
            </a: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99C955-273E-C57A-CDE3-DC2A54E42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563" y="753714"/>
            <a:ext cx="2324301" cy="1021168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C81B176-9391-DDDD-03AB-6282C00ED598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104334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4793C-F6A4-552F-3DF9-485E692EC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Mínimo Múltiplo Comum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61AC9A-ED0D-8A80-BE5E-BCBE9126C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Os múltiplos de 7 são : 0,7,14,21,28,35,42,49,56...</a:t>
            </a:r>
          </a:p>
          <a:p>
            <a:r>
              <a:rPr lang="pt-BR" dirty="0"/>
              <a:t>Os múltiplos de 2 são: 02,4,8,16,24,32,40,48,56,64....</a:t>
            </a:r>
          </a:p>
          <a:p>
            <a:r>
              <a:rPr lang="pt-BR" dirty="0"/>
              <a:t>Tirando o zero, o menor múltiplo comum, entre 7 e 2 é: 14=7*2</a:t>
            </a:r>
          </a:p>
          <a:p>
            <a:pPr lvl="1"/>
            <a:r>
              <a:rPr lang="pt-BR" dirty="0"/>
              <a:t>O valor é 14 é o mínimo por que 7 e 2 não tem nenhum fator comum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Nesse exemplo,  MMC entre dois números primos (Que só são divisíveis por 1 e eles  mesmo) é sempre a multiplicação entre os números.  </a:t>
            </a:r>
          </a:p>
          <a:p>
            <a:pPr marL="457200" lvl="1" indent="0">
              <a:buNone/>
            </a:pPr>
            <a:endParaRPr lang="pt-BR" dirty="0"/>
          </a:p>
          <a:p>
            <a:endParaRPr lang="pt-BR" dirty="0"/>
          </a:p>
          <a:p>
            <a:pPr marL="914400" lvl="2" indent="0">
              <a:buNone/>
            </a:pPr>
            <a:r>
              <a:rPr lang="pt-BR" dirty="0"/>
              <a:t>	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99F5BBC-3846-8418-9EE1-C156CDEFBC8C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4249772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96D102-10D9-067A-2AFC-5E1645BED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461" y="1465716"/>
            <a:ext cx="9905999" cy="3541714"/>
          </a:xfrm>
        </p:spPr>
        <p:txBody>
          <a:bodyPr>
            <a:normAutofit lnSpcReduction="10000"/>
          </a:bodyPr>
          <a:lstStyle/>
          <a:p>
            <a:r>
              <a:rPr lang="pt-BR" sz="3600" dirty="0"/>
              <a:t>Vamos tirar os múltiplo comum entre 5 e 35:</a:t>
            </a:r>
          </a:p>
          <a:p>
            <a:pPr lvl="1"/>
            <a:r>
              <a:rPr lang="pt-BR" sz="3200" dirty="0"/>
              <a:t>Verificando os fatores de cada número, temos:</a:t>
            </a:r>
          </a:p>
          <a:p>
            <a:pPr lvl="2"/>
            <a:r>
              <a:rPr lang="pt-BR" sz="2800" dirty="0"/>
              <a:t>30 = 2*3*5</a:t>
            </a:r>
          </a:p>
          <a:p>
            <a:pPr lvl="2"/>
            <a:r>
              <a:rPr lang="pt-BR" sz="2800" dirty="0"/>
              <a:t>70 = 2*7*5</a:t>
            </a:r>
          </a:p>
          <a:p>
            <a:pPr lvl="1"/>
            <a:r>
              <a:rPr lang="pt-BR" sz="3200" dirty="0"/>
              <a:t>30 e 70 tem os fatores 2 e 5 em comum:</a:t>
            </a:r>
          </a:p>
          <a:p>
            <a:pPr lvl="2"/>
            <a:r>
              <a:rPr lang="pt-BR" sz="2800" dirty="0"/>
              <a:t>Portanto o MMC entre 30 e 70 é: 2*3*7*5 = 210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26B525E-B293-612D-CB3E-2BE90FC58548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1230606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A1F41-9AB2-A2A0-BB84-E6071FDAB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MMC entre 6 e 8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2449EC-6F57-F45A-5DBF-70BC75521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6 = 2*3    6*[1,2,3,4,56,6,7,8...] = [6,12,18,</a:t>
            </a:r>
            <a:r>
              <a:rPr lang="pt-BR" dirty="0">
                <a:solidFill>
                  <a:schemeClr val="bg2"/>
                </a:solidFill>
              </a:rPr>
              <a:t>24</a:t>
            </a:r>
            <a:r>
              <a:rPr lang="pt-BR" dirty="0"/>
              <a:t>,30,36,42,</a:t>
            </a:r>
            <a:r>
              <a:rPr lang="pt-BR" dirty="0">
                <a:solidFill>
                  <a:schemeClr val="bg2"/>
                </a:solidFill>
              </a:rPr>
              <a:t>48</a:t>
            </a:r>
            <a:r>
              <a:rPr lang="pt-BR" dirty="0"/>
              <a:t>.....]</a:t>
            </a:r>
          </a:p>
          <a:p>
            <a:r>
              <a:rPr lang="pt-BR" dirty="0"/>
              <a:t>8 = 2*2*2 8*[1,2,3,4,5,6,7,8....]  = [8,15,    </a:t>
            </a:r>
            <a:r>
              <a:rPr lang="pt-BR" dirty="0">
                <a:solidFill>
                  <a:schemeClr val="bg2"/>
                </a:solidFill>
              </a:rPr>
              <a:t>24</a:t>
            </a:r>
            <a:r>
              <a:rPr lang="pt-BR" dirty="0"/>
              <a:t>,32,40,     </a:t>
            </a:r>
            <a:r>
              <a:rPr lang="pt-BR" dirty="0">
                <a:solidFill>
                  <a:schemeClr val="bg2"/>
                </a:solidFill>
              </a:rPr>
              <a:t>48</a:t>
            </a:r>
            <a:r>
              <a:rPr lang="pt-BR" dirty="0"/>
              <a:t>.....]</a:t>
            </a:r>
          </a:p>
          <a:p>
            <a:r>
              <a:rPr lang="pt-BR" dirty="0"/>
              <a:t>O MMC entre 8 e 6, nesse caso, é 24: o menor múltiplo comum</a:t>
            </a:r>
          </a:p>
          <a:p>
            <a:r>
              <a:rPr lang="pt-BR" dirty="0"/>
              <a:t>A maneira fácil de calcular o MMC entre dois números é:</a:t>
            </a:r>
          </a:p>
          <a:p>
            <a:pPr lvl="1"/>
            <a:r>
              <a:rPr lang="pt-BR" dirty="0"/>
              <a:t>1- Identificar os fatores dos números em questão</a:t>
            </a:r>
          </a:p>
          <a:p>
            <a:pPr lvl="2"/>
            <a:r>
              <a:rPr lang="pt-BR" dirty="0"/>
              <a:t>6 = 2*3</a:t>
            </a:r>
          </a:p>
          <a:p>
            <a:pPr lvl="2"/>
            <a:r>
              <a:rPr lang="pt-BR" dirty="0"/>
              <a:t>8 = 2*4</a:t>
            </a:r>
          </a:p>
          <a:p>
            <a:pPr lvl="1"/>
            <a:r>
              <a:rPr lang="pt-BR" dirty="0"/>
              <a:t>2 multiplicar os fatores sem repetição para encontrar o MMC:</a:t>
            </a:r>
          </a:p>
          <a:p>
            <a:pPr lvl="2"/>
            <a:r>
              <a:rPr lang="pt-BR" dirty="0"/>
              <a:t>MMC(6,8) = 2*3*4 = 24</a:t>
            </a:r>
          </a:p>
          <a:p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F1489B5-6EF0-3D16-4BE6-A5F411A68CEA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336248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F02CF-1F33-DBFD-C3F3-1C2771941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prático para cálculo do </a:t>
            </a:r>
            <a:r>
              <a:rPr lang="pt-BR" dirty="0" err="1"/>
              <a:t>mmc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F89585-86C4-5AED-1A9A-3062FD6F2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Digamos que vamos calcular o </a:t>
            </a:r>
            <a:r>
              <a:rPr lang="pt-BR" dirty="0" err="1"/>
              <a:t>mmc</a:t>
            </a:r>
            <a:r>
              <a:rPr lang="pt-BR" dirty="0"/>
              <a:t> entre 14, 70, e 20</a:t>
            </a:r>
          </a:p>
          <a:p>
            <a:pPr lvl="1"/>
            <a:r>
              <a:rPr lang="pt-BR" dirty="0"/>
              <a:t>1-fatorar os números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7A61D61-A86F-DA33-C95D-F95F7FE58F12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3255458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F02CF-1F33-DBFD-C3F3-1C2771941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prático para cálculo do </a:t>
            </a:r>
            <a:r>
              <a:rPr lang="pt-BR" dirty="0" err="1"/>
              <a:t>mmc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F89585-86C4-5AED-1A9A-3062FD6F2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Digamos que vamos calcular o </a:t>
            </a:r>
            <a:r>
              <a:rPr lang="pt-BR" dirty="0" err="1"/>
              <a:t>mmc</a:t>
            </a:r>
            <a:r>
              <a:rPr lang="pt-BR" dirty="0"/>
              <a:t> entre 14, 70, e 20</a:t>
            </a:r>
          </a:p>
          <a:p>
            <a:pPr lvl="1"/>
            <a:r>
              <a:rPr lang="pt-BR" dirty="0"/>
              <a:t>1-fatorar os números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E00F79-2541-28CD-3134-DDCF02B81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77" y="2943097"/>
            <a:ext cx="2386762" cy="145560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CC3D61F-A324-3EFC-D872-5DA23919B47B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4120002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F02CF-1F33-DBFD-C3F3-1C2771941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prático para cálculo do </a:t>
            </a:r>
            <a:r>
              <a:rPr lang="pt-BR" dirty="0" err="1"/>
              <a:t>mmc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F89585-86C4-5AED-1A9A-3062FD6F2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Digamos que vamos calcular o </a:t>
            </a:r>
            <a:r>
              <a:rPr lang="pt-BR" dirty="0" err="1"/>
              <a:t>mmc</a:t>
            </a:r>
            <a:r>
              <a:rPr lang="pt-BR" dirty="0"/>
              <a:t> entre 14, 70, e 20</a:t>
            </a:r>
          </a:p>
          <a:p>
            <a:pPr lvl="1"/>
            <a:r>
              <a:rPr lang="pt-BR" dirty="0"/>
              <a:t>1-fatorar os números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14 = 2          *7</a:t>
            </a:r>
          </a:p>
          <a:p>
            <a:pPr lvl="1"/>
            <a:r>
              <a:rPr lang="pt-BR" dirty="0"/>
              <a:t>70 = 2*    *5*7</a:t>
            </a:r>
          </a:p>
          <a:p>
            <a:pPr lvl="1"/>
            <a:r>
              <a:rPr lang="pt-BR" dirty="0"/>
              <a:t>20 = 2²    *5</a:t>
            </a:r>
          </a:p>
          <a:p>
            <a:pPr marL="457200" lvl="1" indent="0">
              <a:buNone/>
            </a:pPr>
            <a:r>
              <a:rPr lang="pt-BR" dirty="0"/>
              <a:t>MMC  = 2²    *5*7 = 140( pegamos o 2 com maior expoente ) 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E00F79-2541-28CD-3134-DDCF02B81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77" y="2943097"/>
            <a:ext cx="2386762" cy="145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40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04575-2937-746C-3FB1-01433FDDE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MMC em concursos públicos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6D2611-9C28-BF9F-697B-66804A2B2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geral, concursos públicos cobram  o raciocínio “se A acontece em tal período e B em tal período, quando A e B ocorrerem simultaneamente”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1F7270D-A287-CBA5-5C45-F5502AEBF247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1750546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E088A-9AB9-3570-9E47-B71375C3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VUNESP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CB832F1-A0D2-8B0D-E67A-37CCB8BB0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84" y="1609241"/>
            <a:ext cx="9830652" cy="333022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B71F7D9-778B-14DD-5DBE-01629AD19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447" y="428082"/>
            <a:ext cx="1828958" cy="92972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EE699E24-3433-DDC6-27D5-B42682727A0E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4269481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8EC73-2C9A-ED52-A3BB-BF51A062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811C7F2-6248-E107-89A2-573D68CF6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730" y="2223228"/>
            <a:ext cx="5474169" cy="2230912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2A48C5F9-17DA-FE05-12B1-08DE4A61A87D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385263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F3DDE-851B-9A6D-7F1D-C906E89BB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MMC - Decomposição Simultânea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E1F7A06-5660-9137-7CEC-B29A8DEFB120}"/>
              </a:ext>
            </a:extLst>
          </p:cNvPr>
          <p:cNvSpPr txBox="1"/>
          <p:nvPr/>
        </p:nvSpPr>
        <p:spPr>
          <a:xfrm>
            <a:off x="1296955" y="2164702"/>
            <a:ext cx="996452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1. Vamos fazer a fatoração novamente,</a:t>
            </a:r>
          </a:p>
          <a:p>
            <a:r>
              <a:rPr lang="pt-BR" sz="3200" dirty="0"/>
              <a:t> mas agora vamos fazer todas fatorações simultaneamente: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D022E3B-60F3-B35D-0EE5-D36982EED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072" y="3635131"/>
            <a:ext cx="3063505" cy="2164268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9B00E63-591E-5E1E-C1D3-2270478A1A0E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642035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1AFB9-3568-4BC7-76D4-B9AD491B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MMC – Decomposição simultânea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04C5396-F628-7AA4-78D2-5A73F6267DD5}"/>
              </a:ext>
            </a:extLst>
          </p:cNvPr>
          <p:cNvSpPr txBox="1"/>
          <p:nvPr/>
        </p:nvSpPr>
        <p:spPr>
          <a:xfrm>
            <a:off x="1141413" y="2083092"/>
            <a:ext cx="7778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2- Nessa fatoração, vamos usar dividir os números até que não existam mais o mesmo fator, por exemplo, nessa fatoração dividimos por 2 2 vezes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3D7058-307A-9B50-5603-993032974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525" y="3131902"/>
            <a:ext cx="4772769" cy="239182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BBF600F-2E45-6C47-5E21-DA5CD3A53E0F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830109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61702-B36D-31EB-B48D-0EB0B8E7F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MMC – Decomposição simultânea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333B1FD-6922-FC6D-0E81-2C68174D8024}"/>
              </a:ext>
            </a:extLst>
          </p:cNvPr>
          <p:cNvSpPr txBox="1"/>
          <p:nvPr/>
        </p:nvSpPr>
        <p:spPr>
          <a:xfrm>
            <a:off x="1268963" y="2015412"/>
            <a:ext cx="75577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3- vamos continuar a fatoração simultânea até que todos os números cheguem a 1 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B20436-383F-E3A1-79B6-B8E175B2F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170" y="2937428"/>
            <a:ext cx="3520745" cy="18975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CF4AD17-30E3-F859-AB36-50491F24A2C6}"/>
              </a:ext>
            </a:extLst>
          </p:cNvPr>
          <p:cNvSpPr txBox="1"/>
          <p:nvPr/>
        </p:nvSpPr>
        <p:spPr>
          <a:xfrm>
            <a:off x="1446245" y="5411755"/>
            <a:ext cx="2990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 MMC é, portanto, 2*2*5*7 </a:t>
            </a:r>
          </a:p>
          <a:p>
            <a:r>
              <a:rPr lang="pt-BR" dirty="0"/>
              <a:t>MCC(14,70,20) = 140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2A3B05B-D7DF-A3C7-8EAE-E50152D088F2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25979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73F37-177B-6A36-42F2-3255982D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Proposições Lógicas - tipos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F5A3A00-2DEF-4C33-73AD-E03DE18AD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68" y="2299565"/>
            <a:ext cx="10503594" cy="154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768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F2805-3A18-A64B-054A-FAB6C11E4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Proposições Lógicas conectores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0C63D68-D13C-ABEE-65AE-CAB370174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412" y="2272925"/>
            <a:ext cx="6635380" cy="319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056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73B15-89E3-A4EA-2722-32E3DD63D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Proposições Lógicas - Conectores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78318EB-3561-F043-CEF2-86A4160E6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811" y="2177205"/>
            <a:ext cx="8428778" cy="3719742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C84247B-23F1-7F7A-0CD3-CE7D08159FFB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2981155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605A3-7DB7-556E-D106-CB54E7E2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Proposições lógicas – tabela verdade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01A4D2-1597-3BC7-B565-628DBA6A4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P1: João é alto</a:t>
            </a:r>
          </a:p>
          <a:p>
            <a:r>
              <a:rPr lang="pt-BR" dirty="0"/>
              <a:t>P2: João é rico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7360FA-22E4-7CD2-E0E2-AD8EE919B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18" y="3877122"/>
            <a:ext cx="3334987" cy="208255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BEC5C2E-8A8E-912A-1B6F-6120685B69B4}"/>
              </a:ext>
            </a:extLst>
          </p:cNvPr>
          <p:cNvSpPr txBox="1"/>
          <p:nvPr/>
        </p:nvSpPr>
        <p:spPr>
          <a:xfrm>
            <a:off x="1259633" y="3526451"/>
            <a:ext cx="1968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João é alto E é rico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7FC2B78-8131-CF06-B804-ADFFFA5F1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593" y="3912375"/>
            <a:ext cx="5384395" cy="204729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5CA15C22-09AF-D1AD-547A-37F1065D5967}"/>
              </a:ext>
            </a:extLst>
          </p:cNvPr>
          <p:cNvSpPr txBox="1"/>
          <p:nvPr/>
        </p:nvSpPr>
        <p:spPr>
          <a:xfrm>
            <a:off x="6588871" y="3575310"/>
            <a:ext cx="2375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João é alto E não é rico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8BC24A2-9395-27B8-84C1-FA52906242A2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2882324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2761C-DDC9-25D5-49A5-EAB10F98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Negação de proposições compostas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94557-E271-2F75-099F-4B55A4186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A= João ganhou na loteria</a:t>
            </a:r>
          </a:p>
          <a:p>
            <a:r>
              <a:rPr lang="pt-BR" dirty="0"/>
              <a:t>E B = Maria é flamenguista</a:t>
            </a:r>
          </a:p>
          <a:p>
            <a:r>
              <a:rPr lang="pt-BR" dirty="0"/>
              <a:t>A negação da proposição composta A^B = João ganhou na loteria </a:t>
            </a:r>
            <a:br>
              <a:rPr lang="pt-BR" dirty="0"/>
            </a:br>
            <a:r>
              <a:rPr lang="pt-BR" dirty="0"/>
              <a:t>E Maria é flamenguista é:</a:t>
            </a:r>
          </a:p>
          <a:p>
            <a:r>
              <a:rPr lang="pt-BR" dirty="0"/>
              <a:t>~(A^B)  = ~A v ~B ( ou seja, como fazemos para que A^B seja falso? )</a:t>
            </a:r>
          </a:p>
          <a:p>
            <a:r>
              <a:rPr lang="pt-BR" dirty="0"/>
              <a:t> o E virou um OU e as proposições  foram negadas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3256E8-6649-B601-C921-E3B44640552C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1246397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7919B-AA70-0E3D-89CC-0487C94F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Implicação Lógica</a:t>
            </a:r>
          </a:p>
        </p:txBody>
      </p:sp>
      <p:pic>
        <p:nvPicPr>
          <p:cNvPr id="13" name="Espaço Reservado para Conteúdo 12">
            <a:extLst>
              <a:ext uri="{FF2B5EF4-FFF2-40B4-BE49-F238E27FC236}">
                <a16:creationId xmlns:a16="http://schemas.microsoft.com/office/drawing/2014/main" id="{ABE2DCB9-5D23-D7D3-B84A-19F4E7B7EA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8919" y="2329996"/>
            <a:ext cx="8899325" cy="1327604"/>
          </a:xfr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16D5DD9-87FF-D844-FBC4-BDE635D5D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644" y="4175261"/>
            <a:ext cx="3266016" cy="176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832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DD24E-DE65-FFD2-EE65-5BBE7E1A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8E062AF-8F1D-E20C-26EE-14B01238E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6706" y="1687679"/>
            <a:ext cx="9815411" cy="3482642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A77E950-C0C3-4F86-3A36-69DD1716F246}"/>
              </a:ext>
            </a:extLst>
          </p:cNvPr>
          <p:cNvSpPr txBox="1"/>
          <p:nvPr/>
        </p:nvSpPr>
        <p:spPr>
          <a:xfrm>
            <a:off x="1548882" y="5710335"/>
            <a:ext cx="5282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Resposta: João NÃO estuda OU Pedro não joga futebol</a:t>
            </a:r>
          </a:p>
        </p:txBody>
      </p:sp>
    </p:spTree>
    <p:extLst>
      <p:ext uri="{BB962C8B-B14F-4D97-AF65-F5344CB8AC3E}">
        <p14:creationId xmlns:p14="http://schemas.microsoft.com/office/powerpoint/2010/main" val="1837030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11B62-81A1-6F49-F513-BA57B5E8F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5963"/>
            <a:ext cx="9905998" cy="1478570"/>
          </a:xfrm>
        </p:spPr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D47B62A-9812-0E9F-2A6E-F42E4CE29E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6723" y="1714533"/>
            <a:ext cx="9655377" cy="3520745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571701C-397F-AFAE-8E91-7728C15AFB28}"/>
              </a:ext>
            </a:extLst>
          </p:cNvPr>
          <p:cNvSpPr txBox="1"/>
          <p:nvPr/>
        </p:nvSpPr>
        <p:spPr>
          <a:xfrm>
            <a:off x="1810139" y="5784980"/>
            <a:ext cx="5982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Resposta: Pedro não é mecânico e Thiago não é arquiteto -&gt; C</a:t>
            </a:r>
          </a:p>
        </p:txBody>
      </p:sp>
    </p:spTree>
    <p:extLst>
      <p:ext uri="{BB962C8B-B14F-4D97-AF65-F5344CB8AC3E}">
        <p14:creationId xmlns:p14="http://schemas.microsoft.com/office/powerpoint/2010/main" val="2031435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DED78-A758-60C7-1C06-F479D977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6632"/>
            <a:ext cx="9905998" cy="1478570"/>
          </a:xfrm>
        </p:spPr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598E6E0-1684-680E-81F4-9A9322441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8576" y="1521293"/>
            <a:ext cx="7702623" cy="3815414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748CC68-A8F5-3661-5629-5648341F06D1}"/>
              </a:ext>
            </a:extLst>
          </p:cNvPr>
          <p:cNvSpPr txBox="1"/>
          <p:nvPr/>
        </p:nvSpPr>
        <p:spPr>
          <a:xfrm>
            <a:off x="2258008" y="5990253"/>
            <a:ext cx="5600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Resposta: Se fiz a prova correndo, então me saí muito bem</a:t>
            </a:r>
          </a:p>
        </p:txBody>
      </p:sp>
    </p:spTree>
    <p:extLst>
      <p:ext uri="{BB962C8B-B14F-4D97-AF65-F5344CB8AC3E}">
        <p14:creationId xmlns:p14="http://schemas.microsoft.com/office/powerpoint/2010/main" val="1979558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25043-B68E-12DD-1E88-D68184F3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CF117AB-8666-586B-1AB8-2D5C625B1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4989" y="2097088"/>
            <a:ext cx="6498342" cy="3786934"/>
          </a:xfrm>
        </p:spPr>
      </p:pic>
    </p:spTree>
    <p:extLst>
      <p:ext uri="{BB962C8B-B14F-4D97-AF65-F5344CB8AC3E}">
        <p14:creationId xmlns:p14="http://schemas.microsoft.com/office/powerpoint/2010/main" val="1907125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20624-9981-3CF8-999E-58B653720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354AB48-D868-6C08-3C52-0B7D2EE21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6144" y="1788496"/>
            <a:ext cx="9771267" cy="2972417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A91B834-B0A0-9956-7DC4-6C3F84595B42}"/>
              </a:ext>
            </a:extLst>
          </p:cNvPr>
          <p:cNvSpPr txBox="1"/>
          <p:nvPr/>
        </p:nvSpPr>
        <p:spPr>
          <a:xfrm>
            <a:off x="1427584" y="5262465"/>
            <a:ext cx="92924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Resposta: como temos uma sequencia de avaliações OU, então temos que ter todas proposições em</a:t>
            </a:r>
          </a:p>
          <a:p>
            <a:r>
              <a:rPr lang="pt-BR" dirty="0"/>
              <a:t>p V q V ~r V s V ~t , portanto temos que ter r = V, t = V, p = F, q = F, s = F.  -&gt; opção C </a:t>
            </a:r>
          </a:p>
        </p:txBody>
      </p:sp>
    </p:spTree>
    <p:extLst>
      <p:ext uri="{BB962C8B-B14F-4D97-AF65-F5344CB8AC3E}">
        <p14:creationId xmlns:p14="http://schemas.microsoft.com/office/powerpoint/2010/main" val="4163521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8C7B7-C432-EF36-B74A-681AE4346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35963"/>
            <a:ext cx="9905998" cy="1478570"/>
          </a:xfrm>
        </p:spPr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4FC33E7-D469-332F-03BE-99BA9BCA9D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68" y="1499929"/>
            <a:ext cx="8982918" cy="2915599"/>
          </a:xfrm>
        </p:spPr>
      </p:pic>
    </p:spTree>
    <p:extLst>
      <p:ext uri="{BB962C8B-B14F-4D97-AF65-F5344CB8AC3E}">
        <p14:creationId xmlns:p14="http://schemas.microsoft.com/office/powerpoint/2010/main" val="4232452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D8AA1-353C-0F7A-4C07-48F3C19F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Anterior – Analisando frase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2215AC-6930-3FD3-1A59-B76085B71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Álvaro trabalha como recursos humanos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CF1DCA-C650-DB26-CC82-CC4603F2D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589" y="3242387"/>
            <a:ext cx="7325194" cy="207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1417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84A55-2612-C254-B0BA-F83D0FD95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Anterior – Analisando frase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819ACC-CA3D-8B61-DA3C-65BB2857D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trabalha na sede de umbu trabalha como cobrador</a:t>
            </a:r>
          </a:p>
          <a:p>
            <a:r>
              <a:rPr lang="pt-BR" dirty="0"/>
              <a:t>Como </a:t>
            </a:r>
            <a:r>
              <a:rPr lang="pt-BR" dirty="0" err="1"/>
              <a:t>Alvaro</a:t>
            </a:r>
            <a:r>
              <a:rPr lang="pt-BR" dirty="0"/>
              <a:t> trabalha com recursos humanos então ele não mora em </a:t>
            </a:r>
            <a:r>
              <a:rPr lang="pt-BR" dirty="0" err="1"/>
              <a:t>Umbú</a:t>
            </a:r>
            <a:r>
              <a:rPr lang="pt-BR" dirty="0"/>
              <a:t>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B5C4B86-333D-8BB1-6A94-38E274440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038" y="3725829"/>
            <a:ext cx="6704624" cy="176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8489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22A3F-E51C-3875-04E2-5DB81251C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anterior – analisando frase 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A74B7-309C-658A-BD98-C44FE6B5C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Thelma não trabalha no Parthenon e não trabalha como motorista:</a:t>
            </a:r>
          </a:p>
          <a:p>
            <a:pPr lvl="1"/>
            <a:r>
              <a:rPr lang="pt-BR" dirty="0"/>
              <a:t>Como </a:t>
            </a:r>
            <a:r>
              <a:rPr lang="pt-BR" dirty="0" err="1"/>
              <a:t>thelma</a:t>
            </a:r>
            <a:r>
              <a:rPr lang="pt-BR" dirty="0"/>
              <a:t> não é motorista, só pode ser cobradora, portanto mora em </a:t>
            </a:r>
            <a:r>
              <a:rPr lang="pt-BR" dirty="0" err="1"/>
              <a:t>Umbú</a:t>
            </a:r>
            <a:r>
              <a:rPr lang="pt-BR" dirty="0"/>
              <a:t>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913A357-ABC9-FDEE-2FA4-858C53F99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913" y="3760513"/>
            <a:ext cx="7755469" cy="188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377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EC6EE-CA6D-9ED2-92E3-2BCD5633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Anterior continuando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425FE3-0832-F85D-FAA0-0AF45A652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</a:t>
            </a:r>
            <a:r>
              <a:rPr lang="pt-BR" dirty="0" err="1"/>
              <a:t>thelma</a:t>
            </a:r>
            <a:r>
              <a:rPr lang="pt-BR" dirty="0"/>
              <a:t> mora em </a:t>
            </a:r>
            <a:r>
              <a:rPr lang="pt-BR" dirty="0" err="1"/>
              <a:t>Umbú</a:t>
            </a:r>
            <a:r>
              <a:rPr lang="pt-BR" dirty="0"/>
              <a:t>, não mora em lugar mais nenhum.</a:t>
            </a:r>
          </a:p>
          <a:p>
            <a:r>
              <a:rPr lang="pt-BR" dirty="0"/>
              <a:t>Como </a:t>
            </a:r>
            <a:r>
              <a:rPr lang="pt-BR" dirty="0" err="1"/>
              <a:t>thelma</a:t>
            </a:r>
            <a:r>
              <a:rPr lang="pt-BR" dirty="0"/>
              <a:t> e </a:t>
            </a:r>
            <a:r>
              <a:rPr lang="pt-BR" dirty="0" err="1"/>
              <a:t>alvaró</a:t>
            </a:r>
            <a:r>
              <a:rPr lang="pt-BR" dirty="0"/>
              <a:t> não são motoristas, Betina é motorista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CC43B67-4327-CE1F-A1E0-E0E8901D7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311" y="3909170"/>
            <a:ext cx="6095571" cy="196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029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9B7DB-D9F3-5769-C4FE-E4270632F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746C8C0-A5B1-D371-9AAF-C49F3C5F5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0621" y="2097088"/>
            <a:ext cx="8512103" cy="2499586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E35CF80-4038-41BE-769C-A4C0C55557AF}"/>
              </a:ext>
            </a:extLst>
          </p:cNvPr>
          <p:cNvSpPr txBox="1"/>
          <p:nvPr/>
        </p:nvSpPr>
        <p:spPr>
          <a:xfrm>
            <a:off x="1007706" y="5047860"/>
            <a:ext cx="10357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Resposta, de acordo com a tabela feita, temos que Telma trabalha em umbu e </a:t>
            </a:r>
            <a:r>
              <a:rPr lang="pt-BR" dirty="0" err="1"/>
              <a:t>betina</a:t>
            </a:r>
            <a:r>
              <a:rPr lang="pt-BR" dirty="0"/>
              <a:t> trabalha como motorista</a:t>
            </a:r>
          </a:p>
          <a:p>
            <a:r>
              <a:rPr lang="pt-BR" dirty="0"/>
              <a:t>LETRA C</a:t>
            </a:r>
          </a:p>
        </p:txBody>
      </p:sp>
    </p:spTree>
    <p:extLst>
      <p:ext uri="{BB962C8B-B14F-4D97-AF65-F5344CB8AC3E}">
        <p14:creationId xmlns:p14="http://schemas.microsoft.com/office/powerpoint/2010/main" val="8867169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6F909D-AC00-5582-2EE2-249034B13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F32B207-C061-D061-55EC-6D8E95F9D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4124" y="1874963"/>
            <a:ext cx="8735548" cy="2885950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8EABB75-7226-7294-EF16-FD079C852E59}"/>
              </a:ext>
            </a:extLst>
          </p:cNvPr>
          <p:cNvSpPr txBox="1"/>
          <p:nvPr/>
        </p:nvSpPr>
        <p:spPr>
          <a:xfrm>
            <a:off x="1894114" y="5197151"/>
            <a:ext cx="798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Tomando as relações podemos afirmar que “Se não é verão, então não está quente”</a:t>
            </a:r>
          </a:p>
        </p:txBody>
      </p:sp>
    </p:spTree>
    <p:extLst>
      <p:ext uri="{BB962C8B-B14F-4D97-AF65-F5344CB8AC3E}">
        <p14:creationId xmlns:p14="http://schemas.microsoft.com/office/powerpoint/2010/main" val="3685461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3B178F-7CD4-D18A-B2A3-EA7F496FC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226632"/>
            <a:ext cx="9905998" cy="1478570"/>
          </a:xfrm>
        </p:spPr>
        <p:txBody>
          <a:bodyPr/>
          <a:lstStyle/>
          <a:p>
            <a:r>
              <a:rPr lang="pt-BR" dirty="0"/>
              <a:t>Exercício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ADACDB8-CC45-800D-04BB-6B754B78F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2310" y="1658144"/>
            <a:ext cx="8944206" cy="3541712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448BCD9-46F6-4D94-CB62-47887BF8EA3E}"/>
              </a:ext>
            </a:extLst>
          </p:cNvPr>
          <p:cNvSpPr txBox="1"/>
          <p:nvPr/>
        </p:nvSpPr>
        <p:spPr>
          <a:xfrm>
            <a:off x="1622310" y="5486399"/>
            <a:ext cx="9489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 palavra sucesso tem 7 letras. A cada 7 letras é completado um ciclo.  Para saber </a:t>
            </a:r>
            <a:r>
              <a:rPr lang="pt-BR" dirty="0" err="1"/>
              <a:t>qua</a:t>
            </a:r>
            <a:r>
              <a:rPr lang="pt-BR" dirty="0"/>
              <a:t> letra em </a:t>
            </a:r>
          </a:p>
          <a:p>
            <a:r>
              <a:rPr lang="pt-BR" dirty="0"/>
              <a:t>Certo </a:t>
            </a:r>
            <a:r>
              <a:rPr lang="pt-BR" dirty="0" err="1"/>
              <a:t>indíce</a:t>
            </a:r>
            <a:r>
              <a:rPr lang="pt-BR" dirty="0"/>
              <a:t>, usamos o resto da divisão do índice desejado por 7. O resto da divisão de 282 por 7 é</a:t>
            </a:r>
          </a:p>
          <a:p>
            <a:r>
              <a:rPr lang="pt-BR" dirty="0"/>
              <a:t>2, portanto a letra no índice 282 é U -&gt; letra B</a:t>
            </a:r>
          </a:p>
        </p:txBody>
      </p:sp>
    </p:spTree>
    <p:extLst>
      <p:ext uri="{BB962C8B-B14F-4D97-AF65-F5344CB8AC3E}">
        <p14:creationId xmlns:p14="http://schemas.microsoft.com/office/powerpoint/2010/main" val="9082899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477</TotalTime>
  <Words>1138</Words>
  <Application>Microsoft Office PowerPoint</Application>
  <PresentationFormat>Widescreen</PresentationFormat>
  <Paragraphs>147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7" baseType="lpstr">
      <vt:lpstr>Arial</vt:lpstr>
      <vt:lpstr>Tw Cen MT</vt:lpstr>
      <vt:lpstr>Circuito</vt:lpstr>
      <vt:lpstr>Raciocínio Lógico</vt:lpstr>
      <vt:lpstr>Múltiplo de Um número</vt:lpstr>
      <vt:lpstr>Exemplo</vt:lpstr>
      <vt:lpstr>Mínimo Múltiplo Comum</vt:lpstr>
      <vt:lpstr>Apresentação do PowerPoint</vt:lpstr>
      <vt:lpstr>Exemplo: MMC entre 6 e 8</vt:lpstr>
      <vt:lpstr>Processo prático para cálculo do mmc</vt:lpstr>
      <vt:lpstr>Processo prático para cálculo do mmc</vt:lpstr>
      <vt:lpstr>Processo prático para cálculo do mmc</vt:lpstr>
      <vt:lpstr>MMC em concursos públicos</vt:lpstr>
      <vt:lpstr>Questão VUNESP</vt:lpstr>
      <vt:lpstr>Apresentação do PowerPoint</vt:lpstr>
      <vt:lpstr>MMC - Decomposição Simultânea</vt:lpstr>
      <vt:lpstr>MMC – Decomposição simultânea</vt:lpstr>
      <vt:lpstr>MMC – Decomposição simultânea</vt:lpstr>
      <vt:lpstr>Proposições Lógicas - tipos</vt:lpstr>
      <vt:lpstr>Proposições Lógicas conectores</vt:lpstr>
      <vt:lpstr>Proposições Lógicas - Conectores</vt:lpstr>
      <vt:lpstr>Proposições lógicas – tabela verdade</vt:lpstr>
      <vt:lpstr>Negação de proposições compostas</vt:lpstr>
      <vt:lpstr>Implicação Lógica</vt:lpstr>
      <vt:lpstr>Exercícios</vt:lpstr>
      <vt:lpstr>Exercícios</vt:lpstr>
      <vt:lpstr>Exercícios</vt:lpstr>
      <vt:lpstr>Exercícios</vt:lpstr>
      <vt:lpstr>Exercícios</vt:lpstr>
      <vt:lpstr>Exercícios</vt:lpstr>
      <vt:lpstr>Exercício Anterior – Analisando frase 1</vt:lpstr>
      <vt:lpstr>Exercício Anterior – Analisando frase 2</vt:lpstr>
      <vt:lpstr>Exercício anterior – analisando frase 3</vt:lpstr>
      <vt:lpstr>Exercício Anterior continuando </vt:lpstr>
      <vt:lpstr>Exercícios</vt:lpstr>
      <vt:lpstr>Exercícios</vt:lpstr>
      <vt:lpstr>Exercício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luizfernandodag@outlook.com</dc:creator>
  <cp:lastModifiedBy>Luiz Gadêlha</cp:lastModifiedBy>
  <cp:revision>8</cp:revision>
  <dcterms:created xsi:type="dcterms:W3CDTF">2023-07-31T19:06:40Z</dcterms:created>
  <dcterms:modified xsi:type="dcterms:W3CDTF">2023-08-01T03:52:09Z</dcterms:modified>
</cp:coreProperties>
</file>