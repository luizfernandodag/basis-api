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3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8/17/2023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57BA6E-724A-BA9E-0199-C526F86113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Probabilidade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EC7721-08EF-E9A4-4DB8-E4A44E92F5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37A7A28-F6AD-6AD1-011A-0CEB78327D31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</p:spTree>
    <p:extLst>
      <p:ext uri="{BB962C8B-B14F-4D97-AF65-F5344CB8AC3E}">
        <p14:creationId xmlns:p14="http://schemas.microsoft.com/office/powerpoint/2010/main" val="3262306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7C85FB-446F-52CD-5273-04960129C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86673"/>
            <a:ext cx="9905998" cy="1478570"/>
          </a:xfrm>
        </p:spPr>
        <p:txBody>
          <a:bodyPr/>
          <a:lstStyle/>
          <a:p>
            <a:r>
              <a:rPr lang="pt-BR" dirty="0"/>
              <a:t>Conceito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574E7E-F48B-C0A2-29F0-11C5A8A48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837" y="1660849"/>
            <a:ext cx="11308701" cy="4130352"/>
          </a:xfrm>
        </p:spPr>
        <p:txBody>
          <a:bodyPr/>
          <a:lstStyle/>
          <a:p>
            <a:r>
              <a:rPr lang="pt-BR" dirty="0"/>
              <a:t>"Probabilidade é um ramo da Matemática em que as chances de ocorrência de experimentos são </a:t>
            </a:r>
            <a:r>
              <a:rPr lang="pt-BR" dirty="0" err="1"/>
              <a:t>calculadas."Veja</a:t>
            </a:r>
            <a:r>
              <a:rPr lang="pt-BR" dirty="0"/>
              <a:t> mais sobre "Probabilidade"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B391498-7E4C-180A-4FA3-1DB9D8A9A335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</p:spTree>
    <p:extLst>
      <p:ext uri="{BB962C8B-B14F-4D97-AF65-F5344CB8AC3E}">
        <p14:creationId xmlns:p14="http://schemas.microsoft.com/office/powerpoint/2010/main" val="1379871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7C85FB-446F-52CD-5273-04960129C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86673"/>
            <a:ext cx="9905998" cy="1478570"/>
          </a:xfrm>
        </p:spPr>
        <p:txBody>
          <a:bodyPr/>
          <a:lstStyle/>
          <a:p>
            <a:r>
              <a:rPr lang="pt-BR" dirty="0"/>
              <a:t>Experimento Aleatório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574E7E-F48B-C0A2-29F0-11C5A8A48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837" y="1660849"/>
            <a:ext cx="11308701" cy="4130352"/>
          </a:xfrm>
        </p:spPr>
        <p:txBody>
          <a:bodyPr/>
          <a:lstStyle/>
          <a:p>
            <a:r>
              <a:rPr lang="pt-BR" dirty="0"/>
              <a:t>"É qualquer experiência cujo resultado não seja conhecido. Por exemplo: ao jogar uma moeda e observar a face superior, é impossível saber qual das faces da moeda ficará voltada para cima, exceto no caso em que a moeda seja viciada (modificada para ter um resultado mais frequentemente).Suponha que uma sacola de supermercado contenha maçãs verdes e vermelhas. Retirar uma maçã de dentro da sacola sem olhar também é um experimento </a:t>
            </a:r>
            <a:r>
              <a:rPr lang="pt-BR" dirty="0" err="1"/>
              <a:t>aleatório."Veja</a:t>
            </a:r>
            <a:r>
              <a:rPr lang="pt-BR" dirty="0"/>
              <a:t> mais sobre "Probabilidade" em: https://brasilescola.uol.com.br/matematica/probabilidade.htm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B391498-7E4C-180A-4FA3-1DB9D8A9A335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</p:spTree>
    <p:extLst>
      <p:ext uri="{BB962C8B-B14F-4D97-AF65-F5344CB8AC3E}">
        <p14:creationId xmlns:p14="http://schemas.microsoft.com/office/powerpoint/2010/main" val="2009461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7C85FB-446F-52CD-5273-04960129C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86673"/>
            <a:ext cx="9905998" cy="1478570"/>
          </a:xfrm>
        </p:spPr>
        <p:txBody>
          <a:bodyPr/>
          <a:lstStyle/>
          <a:p>
            <a:r>
              <a:rPr lang="pt-BR" dirty="0"/>
              <a:t>Ponto amostral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574E7E-F48B-C0A2-29F0-11C5A8A48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837" y="1660849"/>
            <a:ext cx="11308701" cy="4130352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"Um ponto amostral é qualquer resultado possível em um experimento aleatório. Por exemplo: no lançamento de um dado, o resultado (o número que aparece na face superior) pode ser 1, 2, 3, 4, 5 ou 6. Então, cada um desses números é um ponto amostral desse </a:t>
            </a:r>
            <a:r>
              <a:rPr lang="pt-BR" dirty="0" err="1"/>
              <a:t>experimento."Veja</a:t>
            </a:r>
            <a:r>
              <a:rPr lang="pt-BR" dirty="0"/>
              <a:t> mais sobre "Probabilidade" em: https://brasilescola.uol.com.br/matematica/probabilidade.htm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B391498-7E4C-180A-4FA3-1DB9D8A9A335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</p:spTree>
    <p:extLst>
      <p:ext uri="{BB962C8B-B14F-4D97-AF65-F5344CB8AC3E}">
        <p14:creationId xmlns:p14="http://schemas.microsoft.com/office/powerpoint/2010/main" val="474656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7C85FB-446F-52CD-5273-04960129C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86673"/>
            <a:ext cx="9905998" cy="1478570"/>
          </a:xfrm>
        </p:spPr>
        <p:txBody>
          <a:bodyPr/>
          <a:lstStyle/>
          <a:p>
            <a:r>
              <a:rPr lang="pt-BR" dirty="0"/>
              <a:t>Espaço Amostral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574E7E-F48B-C0A2-29F0-11C5A8A48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837" y="1660849"/>
            <a:ext cx="11308701" cy="4130352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"O espaço amostral é o conjunto formado por todos os pontos amostrais de um experimento aleatório, ou seja, por todos os seus resultados possíveis. Dessa maneira, o resultado de um experimento aleatório, mesmo que não seja previsível, sempre pode ser encontrado dentro do espaço amostral referente a </a:t>
            </a:r>
            <a:r>
              <a:rPr lang="pt-BR" dirty="0" err="1"/>
              <a:t>ele.Como</a:t>
            </a:r>
            <a:r>
              <a:rPr lang="pt-BR" dirty="0"/>
              <a:t> os espaços amostrais são conjuntos de resultados possíveis, utilizamos as representações de conjuntos para esses espaços. Por exemplo: O espaço amostral referente ao experimento “lançamento de um dado” é o conjunto Ω, tal </a:t>
            </a:r>
            <a:r>
              <a:rPr lang="pt-BR" dirty="0" err="1"/>
              <a:t>que:"Veja</a:t>
            </a:r>
            <a:r>
              <a:rPr lang="pt-BR" dirty="0"/>
              <a:t> mais sobre "Probabilidade" em: https://brasilescola.uol.com.br/matematica/probabilidade.htm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B391498-7E4C-180A-4FA3-1DB9D8A9A335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4DB233E-D1E5-1926-F4A6-4B817EF39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1141" y="5464430"/>
            <a:ext cx="1760373" cy="48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568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7C85FB-446F-52CD-5273-04960129C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86673"/>
            <a:ext cx="9905998" cy="1478570"/>
          </a:xfrm>
        </p:spPr>
        <p:txBody>
          <a:bodyPr/>
          <a:lstStyle/>
          <a:p>
            <a:r>
              <a:rPr lang="pt-BR" dirty="0"/>
              <a:t>Diagrama de </a:t>
            </a:r>
            <a:r>
              <a:rPr lang="pt-BR" dirty="0" err="1"/>
              <a:t>venn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574E7E-F48B-C0A2-29F0-11C5A8A48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837" y="1660849"/>
            <a:ext cx="11308701" cy="4130352"/>
          </a:xfrm>
        </p:spPr>
        <p:txBody>
          <a:bodyPr/>
          <a:lstStyle/>
          <a:p>
            <a:pPr marL="0" indent="0">
              <a:buNone/>
            </a:pPr>
            <a:r>
              <a:rPr lang="pt-BR" b="0" i="0" dirty="0">
                <a:effectLst/>
                <a:latin typeface="system-ui"/>
              </a:rPr>
              <a:t>Diagrama de </a:t>
            </a:r>
            <a:r>
              <a:rPr lang="pt-BR" b="0" i="0" dirty="0" err="1">
                <a:effectLst/>
                <a:latin typeface="system-ui"/>
              </a:rPr>
              <a:t>Venn</a:t>
            </a:r>
            <a:r>
              <a:rPr lang="pt-BR" b="0" i="0" dirty="0">
                <a:effectLst/>
                <a:latin typeface="system-ui"/>
              </a:rPr>
              <a:t> é uma maneira de apresentar graficamente um conjunto. Nele construímos uma linha fechada, e no seu interior inserimos os elementos do conjunto.</a:t>
            </a:r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B391498-7E4C-180A-4FA3-1DB9D8A9A335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1F112E6-653A-8961-9ADD-BCA74A188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7168" y="2705751"/>
            <a:ext cx="3475021" cy="3490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227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7C85FB-446F-52CD-5273-04960129C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86673"/>
            <a:ext cx="9905998" cy="1478570"/>
          </a:xfrm>
        </p:spPr>
        <p:txBody>
          <a:bodyPr/>
          <a:lstStyle/>
          <a:p>
            <a:r>
              <a:rPr lang="pt-BR" b="1" i="0" dirty="0">
                <a:solidFill>
                  <a:srgbClr val="404040"/>
                </a:solidFill>
                <a:effectLst/>
                <a:latin typeface="Roboto" panose="02000000000000000000" pitchFamily="2" charset="0"/>
              </a:rPr>
              <a:t>Questões nível fácil</a:t>
            </a:r>
            <a:br>
              <a:rPr lang="pt-BR" b="1" i="0" dirty="0">
                <a:solidFill>
                  <a:srgbClr val="404040"/>
                </a:solidFill>
                <a:effectLst/>
                <a:latin typeface="Roboto" panose="02000000000000000000" pitchFamily="2" charset="0"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574E7E-F48B-C0A2-29F0-11C5A8A48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837" y="1660849"/>
            <a:ext cx="11308701" cy="4130352"/>
          </a:xfrm>
        </p:spPr>
        <p:txBody>
          <a:bodyPr/>
          <a:lstStyle/>
          <a:p>
            <a:pPr marL="0" indent="0">
              <a:buNone/>
            </a:pPr>
            <a:r>
              <a:rPr lang="pt-BR" b="1" i="0" dirty="0">
                <a:solidFill>
                  <a:srgbClr val="404040"/>
                </a:solidFill>
                <a:effectLst/>
                <a:latin typeface="Roboto" panose="02000000000000000000" pitchFamily="2" charset="0"/>
              </a:rPr>
              <a:t>Questões nível fácil</a:t>
            </a:r>
          </a:p>
          <a:p>
            <a:pPr marL="0" indent="0">
              <a:buNone/>
            </a:pPr>
            <a:r>
              <a:rPr lang="pt-BR" b="0" i="0" dirty="0">
                <a:solidFill>
                  <a:srgbClr val="404040"/>
                </a:solidFill>
                <a:effectLst/>
                <a:latin typeface="Roboto" panose="02000000000000000000" pitchFamily="2" charset="0"/>
              </a:rPr>
              <a:t>Ao jogar um dado, qual a probabilidade de obtermos um número ímpar voltado para cima?</a:t>
            </a:r>
          </a:p>
          <a:p>
            <a:pPr marL="0" indent="0">
              <a:buNone/>
            </a:pPr>
            <a:endParaRPr lang="pt-BR" b="0" i="0" dirty="0">
              <a:solidFill>
                <a:srgbClr val="404040"/>
              </a:solidFill>
              <a:effectLst/>
              <a:latin typeface="Roboto" panose="02000000000000000000" pitchFamily="2" charset="0"/>
            </a:endParaRPr>
          </a:p>
          <a:p>
            <a:pPr marL="0" indent="0" algn="l">
              <a:buNone/>
            </a:pPr>
            <a:r>
              <a:rPr lang="pt-BR" b="1" i="0" dirty="0">
                <a:solidFill>
                  <a:srgbClr val="404040"/>
                </a:solidFill>
                <a:effectLst/>
                <a:latin typeface="Roboto" panose="02000000000000000000" pitchFamily="2" charset="0"/>
              </a:rPr>
              <a:t>Questão 2</a:t>
            </a:r>
          </a:p>
          <a:p>
            <a:pPr marL="0" indent="0" algn="l">
              <a:buNone/>
            </a:pPr>
            <a:r>
              <a:rPr lang="pt-BR" b="0" i="0" dirty="0">
                <a:solidFill>
                  <a:srgbClr val="404040"/>
                </a:solidFill>
                <a:effectLst/>
                <a:latin typeface="Roboto" panose="02000000000000000000" pitchFamily="2" charset="0"/>
              </a:rPr>
              <a:t>Se lançarmos dois dados ao mesmo tempo, qual a probabilidade de dois números iguais ficarem voltados para cima?</a:t>
            </a:r>
          </a:p>
          <a:p>
            <a:pPr marL="0" indent="0">
              <a:buNone/>
            </a:pPr>
            <a:endParaRPr lang="pt-BR" b="1" i="0" dirty="0">
              <a:solidFill>
                <a:srgbClr val="404040"/>
              </a:solidFill>
              <a:effectLst/>
              <a:latin typeface="Roboto" panose="02000000000000000000" pitchFamily="2" charset="0"/>
            </a:endParaRP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B391498-7E4C-180A-4FA3-1DB9D8A9A335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</p:spTree>
    <p:extLst>
      <p:ext uri="{BB962C8B-B14F-4D97-AF65-F5344CB8AC3E}">
        <p14:creationId xmlns:p14="http://schemas.microsoft.com/office/powerpoint/2010/main" val="1804546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C9B680-FA24-1803-DDB4-3293D8886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1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2542F7CF-ED74-91DA-5CBE-AFBA10E1FD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7573" y="2097088"/>
            <a:ext cx="5502117" cy="891617"/>
          </a:xfrm>
        </p:spPr>
      </p:pic>
    </p:spTree>
    <p:extLst>
      <p:ext uri="{BB962C8B-B14F-4D97-AF65-F5344CB8AC3E}">
        <p14:creationId xmlns:p14="http://schemas.microsoft.com/office/powerpoint/2010/main" val="1557556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C9B680-FA24-1803-DDB4-3293D8886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2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1D97CE22-5050-BC4A-5DE2-90E88E9228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6821" y="2026810"/>
            <a:ext cx="6043184" cy="967824"/>
          </a:xfrm>
        </p:spPr>
      </p:pic>
    </p:spTree>
    <p:extLst>
      <p:ext uri="{BB962C8B-B14F-4D97-AF65-F5344CB8AC3E}">
        <p14:creationId xmlns:p14="http://schemas.microsoft.com/office/powerpoint/2010/main" val="132358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C9B680-FA24-1803-DDB4-3293D8886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3</a:t>
            </a:r>
            <a:br>
              <a:rPr lang="pt-BR" dirty="0"/>
            </a:br>
            <a:endParaRPr lang="pt-BR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A167BBB-4E18-5207-1045-72AACA9966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5292" y="1706471"/>
            <a:ext cx="5776461" cy="1211685"/>
          </a:xfrm>
        </p:spPr>
      </p:pic>
    </p:spTree>
    <p:extLst>
      <p:ext uri="{BB962C8B-B14F-4D97-AF65-F5344CB8AC3E}">
        <p14:creationId xmlns:p14="http://schemas.microsoft.com/office/powerpoint/2010/main" val="33019695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33</TotalTime>
  <Words>501</Words>
  <Application>Microsoft Office PowerPoint</Application>
  <PresentationFormat>Widescreen</PresentationFormat>
  <Paragraphs>29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Roboto</vt:lpstr>
      <vt:lpstr>system-ui</vt:lpstr>
      <vt:lpstr>Tw Cen MT</vt:lpstr>
      <vt:lpstr>Circuito</vt:lpstr>
      <vt:lpstr>Probabilidade</vt:lpstr>
      <vt:lpstr>Conceito</vt:lpstr>
      <vt:lpstr>Experimento Aleatório</vt:lpstr>
      <vt:lpstr>Ponto amostral</vt:lpstr>
      <vt:lpstr>Espaço Amostral</vt:lpstr>
      <vt:lpstr>Diagrama de venn</vt:lpstr>
      <vt:lpstr>Questões nível fácil </vt:lpstr>
      <vt:lpstr>Exercício 1</vt:lpstr>
      <vt:lpstr>Exercício 2</vt:lpstr>
      <vt:lpstr>Exercício 3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luizfernandodag@outlook.com</dc:creator>
  <cp:lastModifiedBy>Luiz Gadêlha</cp:lastModifiedBy>
  <cp:revision>3</cp:revision>
  <dcterms:created xsi:type="dcterms:W3CDTF">2023-07-31T19:06:40Z</dcterms:created>
  <dcterms:modified xsi:type="dcterms:W3CDTF">2023-08-17T17:39:25Z</dcterms:modified>
</cp:coreProperties>
</file>