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0" r:id="rId8"/>
    <p:sldId id="262" r:id="rId9"/>
    <p:sldId id="272" r:id="rId10"/>
    <p:sldId id="271" r:id="rId11"/>
    <p:sldId id="263" r:id="rId12"/>
    <p:sldId id="264" r:id="rId13"/>
    <p:sldId id="265" r:id="rId14"/>
    <p:sldId id="273" r:id="rId15"/>
    <p:sldId id="266" r:id="rId16"/>
    <p:sldId id="267" r:id="rId17"/>
    <p:sldId id="268"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6" autoAdjust="0"/>
    <p:restoredTop sz="94660"/>
  </p:normalViewPr>
  <p:slideViewPr>
    <p:cSldViewPr snapToGrid="0">
      <p:cViewPr varScale="1">
        <p:scale>
          <a:sx n="62" d="100"/>
          <a:sy n="62" d="100"/>
        </p:scale>
        <p:origin x="84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pt-BR"/>
              <a:t>Clique para editar o título Mestre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9/4/2023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pt-BR"/>
              <a:t>Clique para editar o título Mestre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8A87A34-81AB-432B-8DAE-1953F412C126}" type="datetimeFigureOut">
              <a:rPr lang="en-US" dirty="0"/>
              <a:t>9/4/2023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141410" y="3073397"/>
            <a:ext cx="4878391"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3073397"/>
            <a:ext cx="4875210"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pt-BR"/>
              <a:t>Clique no ícone para adicionar uma imagem</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pt-BR"/>
              <a:t>Clique para editar o título Mestre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9/4/2023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9/4/2023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9/4/2023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9/4/2023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74FA3-E17C-F5A5-C751-91783F919CF4}"/>
              </a:ext>
            </a:extLst>
          </p:cNvPr>
          <p:cNvSpPr>
            <a:spLocks noGrp="1"/>
          </p:cNvSpPr>
          <p:nvPr>
            <p:ph type="ctrTitle"/>
          </p:nvPr>
        </p:nvSpPr>
        <p:spPr/>
        <p:txBody>
          <a:bodyPr/>
          <a:lstStyle/>
          <a:p>
            <a:r>
              <a:rPr lang="pt-BR" dirty="0"/>
              <a:t>Ondas</a:t>
            </a:r>
          </a:p>
        </p:txBody>
      </p:sp>
      <p:sp>
        <p:nvSpPr>
          <p:cNvPr id="3" name="Subtítulo 2">
            <a:extLst>
              <a:ext uri="{FF2B5EF4-FFF2-40B4-BE49-F238E27FC236}">
                <a16:creationId xmlns:a16="http://schemas.microsoft.com/office/drawing/2014/main" id="{F0D8364A-FFA2-1681-F6B3-73208CBD62A0}"/>
              </a:ext>
            </a:extLst>
          </p:cNvPr>
          <p:cNvSpPr>
            <a:spLocks noGrp="1"/>
          </p:cNvSpPr>
          <p:nvPr>
            <p:ph type="subTitle" idx="1"/>
          </p:nvPr>
        </p:nvSpPr>
        <p:spPr/>
        <p:txBody>
          <a:bodyPr/>
          <a:lstStyle/>
          <a:p>
            <a:endParaRPr lang="pt-BR"/>
          </a:p>
        </p:txBody>
      </p:sp>
      <p:sp>
        <p:nvSpPr>
          <p:cNvPr id="4" name="Retângulo 3">
            <a:extLst>
              <a:ext uri="{FF2B5EF4-FFF2-40B4-BE49-F238E27FC236}">
                <a16:creationId xmlns:a16="http://schemas.microsoft.com/office/drawing/2014/main" id="{2B451CEE-59D5-56FF-B9AC-3C7DFE8275FE}"/>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spTree>
    <p:extLst>
      <p:ext uri="{BB962C8B-B14F-4D97-AF65-F5344CB8AC3E}">
        <p14:creationId xmlns:p14="http://schemas.microsoft.com/office/powerpoint/2010/main" val="162722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2046E8-BA2F-FE54-94BD-F3FE522BFDB1}"/>
              </a:ext>
            </a:extLst>
          </p:cNvPr>
          <p:cNvSpPr>
            <a:spLocks noGrp="1"/>
          </p:cNvSpPr>
          <p:nvPr>
            <p:ph type="title"/>
          </p:nvPr>
        </p:nvSpPr>
        <p:spPr/>
        <p:txBody>
          <a:bodyPr/>
          <a:lstStyle/>
          <a:p>
            <a:r>
              <a:rPr lang="pt-BR" dirty="0"/>
              <a:t>Ondas - conceito</a:t>
            </a:r>
          </a:p>
        </p:txBody>
      </p:sp>
      <p:sp>
        <p:nvSpPr>
          <p:cNvPr id="3" name="Espaço Reservado para Conteúdo 2">
            <a:extLst>
              <a:ext uri="{FF2B5EF4-FFF2-40B4-BE49-F238E27FC236}">
                <a16:creationId xmlns:a16="http://schemas.microsoft.com/office/drawing/2014/main" id="{369E0E1A-3F12-D5B2-9A41-71ADB5F770D6}"/>
              </a:ext>
            </a:extLst>
          </p:cNvPr>
          <p:cNvSpPr>
            <a:spLocks noGrp="1"/>
          </p:cNvSpPr>
          <p:nvPr>
            <p:ph idx="1"/>
          </p:nvPr>
        </p:nvSpPr>
        <p:spPr/>
        <p:txBody>
          <a:bodyPr/>
          <a:lstStyle/>
          <a:p>
            <a:r>
              <a:rPr lang="pt-BR" dirty="0"/>
              <a:t>"A ondulatória estuda o comportamento das ondas e oscilações, permitindo compreender suas características, propriedades e os fenômenos ondulatórios.</a:t>
            </a:r>
          </a:p>
        </p:txBody>
      </p:sp>
      <p:sp>
        <p:nvSpPr>
          <p:cNvPr id="4" name="Retângulo 3">
            <a:extLst>
              <a:ext uri="{FF2B5EF4-FFF2-40B4-BE49-F238E27FC236}">
                <a16:creationId xmlns:a16="http://schemas.microsoft.com/office/drawing/2014/main" id="{3B5572F8-C551-EC72-882C-575A8D4B6694}"/>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spTree>
    <p:extLst>
      <p:ext uri="{BB962C8B-B14F-4D97-AF65-F5344CB8AC3E}">
        <p14:creationId xmlns:p14="http://schemas.microsoft.com/office/powerpoint/2010/main" val="3061813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159432-E413-3A0B-8BC0-35B043368E27}"/>
              </a:ext>
            </a:extLst>
          </p:cNvPr>
          <p:cNvSpPr>
            <a:spLocks noGrp="1"/>
          </p:cNvSpPr>
          <p:nvPr>
            <p:ph type="title"/>
          </p:nvPr>
        </p:nvSpPr>
        <p:spPr/>
        <p:txBody>
          <a:bodyPr/>
          <a:lstStyle/>
          <a:p>
            <a:r>
              <a:rPr lang="pt-BR" dirty="0"/>
              <a:t>Ondas – Natureza das ondas</a:t>
            </a:r>
          </a:p>
        </p:txBody>
      </p:sp>
      <p:sp>
        <p:nvSpPr>
          <p:cNvPr id="3" name="Espaço Reservado para Conteúdo 2">
            <a:extLst>
              <a:ext uri="{FF2B5EF4-FFF2-40B4-BE49-F238E27FC236}">
                <a16:creationId xmlns:a16="http://schemas.microsoft.com/office/drawing/2014/main" id="{7EFFAAE0-C48F-57BE-2252-0AE2D1077F0A}"/>
              </a:ext>
            </a:extLst>
          </p:cNvPr>
          <p:cNvSpPr>
            <a:spLocks noGrp="1"/>
          </p:cNvSpPr>
          <p:nvPr>
            <p:ph idx="1"/>
          </p:nvPr>
        </p:nvSpPr>
        <p:spPr/>
        <p:txBody>
          <a:bodyPr/>
          <a:lstStyle/>
          <a:p>
            <a:r>
              <a:rPr lang="pt-BR" dirty="0"/>
              <a:t>Podem ser classificadas de acordo com:</a:t>
            </a:r>
          </a:p>
          <a:p>
            <a:pPr lvl="1"/>
            <a:r>
              <a:rPr lang="pt-BR" b="1" dirty="0"/>
              <a:t>NATUREZA</a:t>
            </a:r>
          </a:p>
          <a:p>
            <a:pPr lvl="1"/>
            <a:r>
              <a:rPr lang="pt-BR" b="1" dirty="0"/>
              <a:t>DIREÇÃO DA VIBRAÇÃO</a:t>
            </a:r>
          </a:p>
          <a:p>
            <a:pPr lvl="1"/>
            <a:r>
              <a:rPr lang="pt-BR" b="1" dirty="0"/>
              <a:t>NÚMERO DE DIMENSÕES DA PROPAGAÇÃO DA ENERGIA</a:t>
            </a:r>
          </a:p>
          <a:p>
            <a:pPr lvl="1"/>
            <a:endParaRPr lang="pt-BR" b="1" dirty="0"/>
          </a:p>
        </p:txBody>
      </p:sp>
      <p:sp>
        <p:nvSpPr>
          <p:cNvPr id="4" name="Retângulo 3">
            <a:extLst>
              <a:ext uri="{FF2B5EF4-FFF2-40B4-BE49-F238E27FC236}">
                <a16:creationId xmlns:a16="http://schemas.microsoft.com/office/drawing/2014/main" id="{99077848-CC1F-1CC8-52A7-78B0D3B2D6BD}"/>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spTree>
    <p:extLst>
      <p:ext uri="{BB962C8B-B14F-4D97-AF65-F5344CB8AC3E}">
        <p14:creationId xmlns:p14="http://schemas.microsoft.com/office/powerpoint/2010/main" val="89260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C46AE5-5698-5230-2706-CADB5E3C3467}"/>
              </a:ext>
            </a:extLst>
          </p:cNvPr>
          <p:cNvSpPr>
            <a:spLocks noGrp="1"/>
          </p:cNvSpPr>
          <p:nvPr>
            <p:ph type="title"/>
          </p:nvPr>
        </p:nvSpPr>
        <p:spPr/>
        <p:txBody>
          <a:bodyPr/>
          <a:lstStyle/>
          <a:p>
            <a:r>
              <a:rPr lang="pt-BR" dirty="0"/>
              <a:t>Ondas – tipos de ondas</a:t>
            </a:r>
            <a:br>
              <a:rPr lang="pt-BR" dirty="0"/>
            </a:br>
            <a:endParaRPr lang="pt-BR" dirty="0"/>
          </a:p>
        </p:txBody>
      </p:sp>
      <p:sp>
        <p:nvSpPr>
          <p:cNvPr id="3" name="Espaço Reservado para Conteúdo 2">
            <a:extLst>
              <a:ext uri="{FF2B5EF4-FFF2-40B4-BE49-F238E27FC236}">
                <a16:creationId xmlns:a16="http://schemas.microsoft.com/office/drawing/2014/main" id="{F7033850-41CA-282B-CDA6-F8273849C997}"/>
              </a:ext>
            </a:extLst>
          </p:cNvPr>
          <p:cNvSpPr>
            <a:spLocks noGrp="1"/>
          </p:cNvSpPr>
          <p:nvPr>
            <p:ph idx="1"/>
          </p:nvPr>
        </p:nvSpPr>
        <p:spPr/>
        <p:txBody>
          <a:bodyPr/>
          <a:lstStyle/>
          <a:p>
            <a:r>
              <a:rPr lang="pt-BR" dirty="0"/>
              <a:t>"A direção de vibração da onda pode ser:</a:t>
            </a:r>
          </a:p>
          <a:p>
            <a:pPr lvl="1"/>
            <a:r>
              <a:rPr lang="pt-BR" dirty="0"/>
              <a:t>Longitudinal</a:t>
            </a:r>
          </a:p>
          <a:p>
            <a:pPr lvl="1"/>
            <a:r>
              <a:rPr lang="pt-BR" dirty="0"/>
              <a:t>transversal</a:t>
            </a:r>
          </a:p>
        </p:txBody>
      </p:sp>
      <p:sp>
        <p:nvSpPr>
          <p:cNvPr id="4" name="Retângulo 3">
            <a:extLst>
              <a:ext uri="{FF2B5EF4-FFF2-40B4-BE49-F238E27FC236}">
                <a16:creationId xmlns:a16="http://schemas.microsoft.com/office/drawing/2014/main" id="{39351FAC-8F3A-F17B-1462-37E63A90F1D2}"/>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1030" name="Picture 6" descr="Características das ondas">
            <a:extLst>
              <a:ext uri="{FF2B5EF4-FFF2-40B4-BE49-F238E27FC236}">
                <a16:creationId xmlns:a16="http://schemas.microsoft.com/office/drawing/2014/main" id="{2B1234C8-5E9E-E086-DC0B-B39006D18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3061" y="3236065"/>
            <a:ext cx="5169976" cy="3114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068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67E826-172E-A75A-71D9-C02073015AFA}"/>
              </a:ext>
            </a:extLst>
          </p:cNvPr>
          <p:cNvSpPr>
            <a:spLocks noGrp="1"/>
          </p:cNvSpPr>
          <p:nvPr>
            <p:ph type="title"/>
          </p:nvPr>
        </p:nvSpPr>
        <p:spPr>
          <a:xfrm>
            <a:off x="1141413" y="-46552"/>
            <a:ext cx="9905998" cy="1478570"/>
          </a:xfrm>
        </p:spPr>
        <p:txBody>
          <a:bodyPr/>
          <a:lstStyle/>
          <a:p>
            <a:r>
              <a:rPr lang="pt-BR" dirty="0"/>
              <a:t>Ondas – Propagação de um pulso</a:t>
            </a:r>
          </a:p>
        </p:txBody>
      </p:sp>
      <p:sp>
        <p:nvSpPr>
          <p:cNvPr id="3" name="Espaço Reservado para Conteúdo 2">
            <a:extLst>
              <a:ext uri="{FF2B5EF4-FFF2-40B4-BE49-F238E27FC236}">
                <a16:creationId xmlns:a16="http://schemas.microsoft.com/office/drawing/2014/main" id="{34B9AC2F-87F6-DEAC-D468-26BA213796EA}"/>
              </a:ext>
            </a:extLst>
          </p:cNvPr>
          <p:cNvSpPr>
            <a:spLocks noGrp="1"/>
          </p:cNvSpPr>
          <p:nvPr>
            <p:ph idx="1"/>
          </p:nvPr>
        </p:nvSpPr>
        <p:spPr/>
        <p:txBody>
          <a:bodyPr/>
          <a:lstStyle/>
          <a:p>
            <a:endParaRPr lang="pt-BR"/>
          </a:p>
        </p:txBody>
      </p:sp>
      <p:sp>
        <p:nvSpPr>
          <p:cNvPr id="4" name="Retângulo 3">
            <a:extLst>
              <a:ext uri="{FF2B5EF4-FFF2-40B4-BE49-F238E27FC236}">
                <a16:creationId xmlns:a16="http://schemas.microsoft.com/office/drawing/2014/main" id="{18E82C15-2C0F-90C2-E16D-FD18C5F889A5}"/>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6" name="Imagem 5">
            <a:extLst>
              <a:ext uri="{FF2B5EF4-FFF2-40B4-BE49-F238E27FC236}">
                <a16:creationId xmlns:a16="http://schemas.microsoft.com/office/drawing/2014/main" id="{5FC6EDE3-0CCB-0B79-A21B-FAEA2C67882F}"/>
              </a:ext>
            </a:extLst>
          </p:cNvPr>
          <p:cNvPicPr>
            <a:picLocks noChangeAspect="1"/>
          </p:cNvPicPr>
          <p:nvPr/>
        </p:nvPicPr>
        <p:blipFill>
          <a:blip r:embed="rId2"/>
          <a:stretch>
            <a:fillRect/>
          </a:stretch>
        </p:blipFill>
        <p:spPr>
          <a:xfrm>
            <a:off x="559837" y="1106586"/>
            <a:ext cx="11181934" cy="1808205"/>
          </a:xfrm>
          <a:prstGeom prst="rect">
            <a:avLst/>
          </a:prstGeom>
        </p:spPr>
      </p:pic>
      <p:pic>
        <p:nvPicPr>
          <p:cNvPr id="8" name="Imagem 7">
            <a:extLst>
              <a:ext uri="{FF2B5EF4-FFF2-40B4-BE49-F238E27FC236}">
                <a16:creationId xmlns:a16="http://schemas.microsoft.com/office/drawing/2014/main" id="{35DDD89A-52D7-A9EE-1541-A17CB3F49D25}"/>
              </a:ext>
            </a:extLst>
          </p:cNvPr>
          <p:cNvPicPr>
            <a:picLocks noChangeAspect="1"/>
          </p:cNvPicPr>
          <p:nvPr/>
        </p:nvPicPr>
        <p:blipFill>
          <a:blip r:embed="rId3"/>
          <a:stretch>
            <a:fillRect/>
          </a:stretch>
        </p:blipFill>
        <p:spPr>
          <a:xfrm>
            <a:off x="2669006" y="2914791"/>
            <a:ext cx="6416381" cy="3856536"/>
          </a:xfrm>
          <a:prstGeom prst="rect">
            <a:avLst/>
          </a:prstGeom>
        </p:spPr>
      </p:pic>
    </p:spTree>
    <p:extLst>
      <p:ext uri="{BB962C8B-B14F-4D97-AF65-F5344CB8AC3E}">
        <p14:creationId xmlns:p14="http://schemas.microsoft.com/office/powerpoint/2010/main" val="287005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69EBA-A9E8-939B-20CE-EB37E144E9A8}"/>
              </a:ext>
            </a:extLst>
          </p:cNvPr>
          <p:cNvSpPr>
            <a:spLocks noGrp="1"/>
          </p:cNvSpPr>
          <p:nvPr>
            <p:ph type="title"/>
          </p:nvPr>
        </p:nvSpPr>
        <p:spPr/>
        <p:txBody>
          <a:bodyPr/>
          <a:lstStyle/>
          <a:p>
            <a:r>
              <a:rPr lang="pt-BR" dirty="0"/>
              <a:t>Ondas – Reflexão  </a:t>
            </a:r>
          </a:p>
        </p:txBody>
      </p:sp>
      <p:pic>
        <p:nvPicPr>
          <p:cNvPr id="6" name="Espaço Reservado para Conteúdo 5">
            <a:extLst>
              <a:ext uri="{FF2B5EF4-FFF2-40B4-BE49-F238E27FC236}">
                <a16:creationId xmlns:a16="http://schemas.microsoft.com/office/drawing/2014/main" id="{9835819B-925A-CFDB-D714-DEAE1F01D3B2}"/>
              </a:ext>
            </a:extLst>
          </p:cNvPr>
          <p:cNvPicPr>
            <a:picLocks noGrp="1" noChangeAspect="1"/>
          </p:cNvPicPr>
          <p:nvPr>
            <p:ph idx="1"/>
          </p:nvPr>
        </p:nvPicPr>
        <p:blipFill>
          <a:blip r:embed="rId2"/>
          <a:stretch>
            <a:fillRect/>
          </a:stretch>
        </p:blipFill>
        <p:spPr>
          <a:xfrm>
            <a:off x="3109497" y="2097088"/>
            <a:ext cx="5973005" cy="3952160"/>
          </a:xfrm>
        </p:spPr>
      </p:pic>
      <p:sp>
        <p:nvSpPr>
          <p:cNvPr id="4" name="Retângulo 3">
            <a:extLst>
              <a:ext uri="{FF2B5EF4-FFF2-40B4-BE49-F238E27FC236}">
                <a16:creationId xmlns:a16="http://schemas.microsoft.com/office/drawing/2014/main" id="{9791475D-369A-D36D-65CC-3AD26922871A}"/>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spTree>
    <p:extLst>
      <p:ext uri="{BB962C8B-B14F-4D97-AF65-F5344CB8AC3E}">
        <p14:creationId xmlns:p14="http://schemas.microsoft.com/office/powerpoint/2010/main" val="17265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F2DD3-5EC7-D95B-5285-497457B334FE}"/>
              </a:ext>
            </a:extLst>
          </p:cNvPr>
          <p:cNvSpPr>
            <a:spLocks noGrp="1"/>
          </p:cNvSpPr>
          <p:nvPr>
            <p:ph type="title"/>
          </p:nvPr>
        </p:nvSpPr>
        <p:spPr>
          <a:xfrm>
            <a:off x="1141414" y="138070"/>
            <a:ext cx="9905998" cy="1478570"/>
          </a:xfrm>
        </p:spPr>
        <p:txBody>
          <a:bodyPr/>
          <a:lstStyle/>
          <a:p>
            <a:r>
              <a:rPr lang="pt-BR" dirty="0"/>
              <a:t>Ondas - Refração</a:t>
            </a:r>
          </a:p>
        </p:txBody>
      </p:sp>
      <p:pic>
        <p:nvPicPr>
          <p:cNvPr id="2050" name="Picture 2">
            <a:extLst>
              <a:ext uri="{FF2B5EF4-FFF2-40B4-BE49-F238E27FC236}">
                <a16:creationId xmlns:a16="http://schemas.microsoft.com/office/drawing/2014/main" id="{EAB20F15-5EA1-5745-B175-AB98A0B882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2592" y="1616640"/>
            <a:ext cx="3797110" cy="4917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738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FAA38-5BBE-0711-7962-E10200F55489}"/>
              </a:ext>
            </a:extLst>
          </p:cNvPr>
          <p:cNvSpPr>
            <a:spLocks noGrp="1"/>
          </p:cNvSpPr>
          <p:nvPr>
            <p:ph type="title"/>
          </p:nvPr>
        </p:nvSpPr>
        <p:spPr/>
        <p:txBody>
          <a:bodyPr/>
          <a:lstStyle/>
          <a:p>
            <a:r>
              <a:rPr lang="pt-BR" dirty="0"/>
              <a:t>Ondas – Ondas </a:t>
            </a:r>
            <a:r>
              <a:rPr lang="pt-BR" dirty="0" err="1"/>
              <a:t>períodicas</a:t>
            </a:r>
            <a:endParaRPr lang="pt-BR" dirty="0"/>
          </a:p>
        </p:txBody>
      </p:sp>
      <p:sp>
        <p:nvSpPr>
          <p:cNvPr id="3" name="Espaço Reservado para Conteúdo 2">
            <a:extLst>
              <a:ext uri="{FF2B5EF4-FFF2-40B4-BE49-F238E27FC236}">
                <a16:creationId xmlns:a16="http://schemas.microsoft.com/office/drawing/2014/main" id="{71E4A77D-207E-BA10-FAB3-E12D6B5DB0BB}"/>
              </a:ext>
            </a:extLst>
          </p:cNvPr>
          <p:cNvSpPr>
            <a:spLocks noGrp="1"/>
          </p:cNvSpPr>
          <p:nvPr>
            <p:ph idx="1"/>
          </p:nvPr>
        </p:nvSpPr>
        <p:spPr/>
        <p:txBody>
          <a:bodyPr/>
          <a:lstStyle/>
          <a:p>
            <a:endParaRPr lang="pt-BR"/>
          </a:p>
        </p:txBody>
      </p:sp>
      <p:sp>
        <p:nvSpPr>
          <p:cNvPr id="4" name="Retângulo 3">
            <a:extLst>
              <a:ext uri="{FF2B5EF4-FFF2-40B4-BE49-F238E27FC236}">
                <a16:creationId xmlns:a16="http://schemas.microsoft.com/office/drawing/2014/main" id="{E660629A-D7F9-8A96-D682-50C95AA353BA}"/>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3074" name="Picture 2" descr="Exemplo de uma onda periódica unidimensional">
            <a:extLst>
              <a:ext uri="{FF2B5EF4-FFF2-40B4-BE49-F238E27FC236}">
                <a16:creationId xmlns:a16="http://schemas.microsoft.com/office/drawing/2014/main" id="{B7C82DAD-9EFE-1507-7E17-C18CF4D82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975" y="1749411"/>
            <a:ext cx="3680002" cy="233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084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553D51-BC11-527B-EA21-FF157BDC09F5}"/>
              </a:ext>
            </a:extLst>
          </p:cNvPr>
          <p:cNvSpPr>
            <a:spLocks noGrp="1"/>
          </p:cNvSpPr>
          <p:nvPr>
            <p:ph type="title"/>
          </p:nvPr>
        </p:nvSpPr>
        <p:spPr/>
        <p:txBody>
          <a:bodyPr/>
          <a:lstStyle/>
          <a:p>
            <a:r>
              <a:rPr lang="pt-BR" dirty="0"/>
              <a:t>Ondas – Ondas Periódicas</a:t>
            </a:r>
          </a:p>
        </p:txBody>
      </p:sp>
      <p:sp>
        <p:nvSpPr>
          <p:cNvPr id="3" name="Espaço Reservado para Conteúdo 2">
            <a:extLst>
              <a:ext uri="{FF2B5EF4-FFF2-40B4-BE49-F238E27FC236}">
                <a16:creationId xmlns:a16="http://schemas.microsoft.com/office/drawing/2014/main" id="{9A19DF3A-849B-3801-C424-F915EF6FAD55}"/>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6CA8A49F-7208-46E5-DCBA-74866A3B1132}"/>
              </a:ext>
            </a:extLst>
          </p:cNvPr>
          <p:cNvPicPr>
            <a:picLocks noChangeAspect="1"/>
          </p:cNvPicPr>
          <p:nvPr/>
        </p:nvPicPr>
        <p:blipFill>
          <a:blip r:embed="rId2"/>
          <a:stretch>
            <a:fillRect/>
          </a:stretch>
        </p:blipFill>
        <p:spPr>
          <a:xfrm>
            <a:off x="3647667" y="1894598"/>
            <a:ext cx="4183743" cy="4587638"/>
          </a:xfrm>
          <a:prstGeom prst="rect">
            <a:avLst/>
          </a:prstGeom>
        </p:spPr>
      </p:pic>
    </p:spTree>
    <p:extLst>
      <p:ext uri="{BB962C8B-B14F-4D97-AF65-F5344CB8AC3E}">
        <p14:creationId xmlns:p14="http://schemas.microsoft.com/office/powerpoint/2010/main" val="628419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E50AC-27D8-D55E-2BF6-21CBBF0232F8}"/>
              </a:ext>
            </a:extLst>
          </p:cNvPr>
          <p:cNvSpPr>
            <a:spLocks noGrp="1"/>
          </p:cNvSpPr>
          <p:nvPr>
            <p:ph type="title"/>
          </p:nvPr>
        </p:nvSpPr>
        <p:spPr/>
        <p:txBody>
          <a:bodyPr/>
          <a:lstStyle/>
          <a:p>
            <a:r>
              <a:rPr lang="pt-BR" dirty="0"/>
              <a:t>Ondas – Ondas periódicas</a:t>
            </a:r>
          </a:p>
        </p:txBody>
      </p:sp>
      <p:pic>
        <p:nvPicPr>
          <p:cNvPr id="5" name="Espaço Reservado para Conteúdo 4">
            <a:extLst>
              <a:ext uri="{FF2B5EF4-FFF2-40B4-BE49-F238E27FC236}">
                <a16:creationId xmlns:a16="http://schemas.microsoft.com/office/drawing/2014/main" id="{6670D377-B8D2-CE0F-30D3-1AAADE78A725}"/>
              </a:ext>
            </a:extLst>
          </p:cNvPr>
          <p:cNvPicPr>
            <a:picLocks noGrp="1" noChangeAspect="1"/>
          </p:cNvPicPr>
          <p:nvPr>
            <p:ph idx="1"/>
          </p:nvPr>
        </p:nvPicPr>
        <p:blipFill>
          <a:blip r:embed="rId2"/>
          <a:stretch>
            <a:fillRect/>
          </a:stretch>
        </p:blipFill>
        <p:spPr>
          <a:xfrm>
            <a:off x="2661305" y="2317126"/>
            <a:ext cx="6866215" cy="3406435"/>
          </a:xfrm>
        </p:spPr>
      </p:pic>
    </p:spTree>
    <p:extLst>
      <p:ext uri="{BB962C8B-B14F-4D97-AF65-F5344CB8AC3E}">
        <p14:creationId xmlns:p14="http://schemas.microsoft.com/office/powerpoint/2010/main" val="833937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31D5E1-7443-139E-7162-00A656BA154A}"/>
              </a:ext>
            </a:extLst>
          </p:cNvPr>
          <p:cNvSpPr>
            <a:spLocks noGrp="1"/>
          </p:cNvSpPr>
          <p:nvPr>
            <p:ph type="title"/>
          </p:nvPr>
        </p:nvSpPr>
        <p:spPr/>
        <p:txBody>
          <a:bodyPr/>
          <a:lstStyle/>
          <a:p>
            <a:r>
              <a:rPr lang="pt-BR" dirty="0"/>
              <a:t>Ondas – Função de onda</a:t>
            </a:r>
          </a:p>
        </p:txBody>
      </p:sp>
      <p:sp>
        <p:nvSpPr>
          <p:cNvPr id="3" name="Espaço Reservado para Conteúdo 2">
            <a:extLst>
              <a:ext uri="{FF2B5EF4-FFF2-40B4-BE49-F238E27FC236}">
                <a16:creationId xmlns:a16="http://schemas.microsoft.com/office/drawing/2014/main" id="{FF0C3687-9A4C-79F9-A3AA-756FD754C656}"/>
              </a:ext>
            </a:extLst>
          </p:cNvPr>
          <p:cNvSpPr>
            <a:spLocks noGrp="1"/>
          </p:cNvSpPr>
          <p:nvPr>
            <p:ph idx="1"/>
          </p:nvPr>
        </p:nvSpPr>
        <p:spPr/>
        <p:txBody>
          <a:bodyPr/>
          <a:lstStyle/>
          <a:p>
            <a:endParaRPr lang="pt-BR"/>
          </a:p>
        </p:txBody>
      </p:sp>
      <p:sp>
        <p:nvSpPr>
          <p:cNvPr id="4" name="Retângulo 3">
            <a:extLst>
              <a:ext uri="{FF2B5EF4-FFF2-40B4-BE49-F238E27FC236}">
                <a16:creationId xmlns:a16="http://schemas.microsoft.com/office/drawing/2014/main" id="{AC156732-4DC4-0C0C-358D-49E274AE21F5}"/>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4098" name="Picture 2">
            <a:extLst>
              <a:ext uri="{FF2B5EF4-FFF2-40B4-BE49-F238E27FC236}">
                <a16:creationId xmlns:a16="http://schemas.microsoft.com/office/drawing/2014/main" id="{761C7CF8-AD7F-D2CB-F011-D278D0F77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1697" y="1929620"/>
            <a:ext cx="5991105" cy="284426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m 5">
            <a:extLst>
              <a:ext uri="{FF2B5EF4-FFF2-40B4-BE49-F238E27FC236}">
                <a16:creationId xmlns:a16="http://schemas.microsoft.com/office/drawing/2014/main" id="{D5BE1384-A6F2-57CA-0A71-45B88A227B0D}"/>
              </a:ext>
            </a:extLst>
          </p:cNvPr>
          <p:cNvPicPr>
            <a:picLocks noChangeAspect="1"/>
          </p:cNvPicPr>
          <p:nvPr/>
        </p:nvPicPr>
        <p:blipFill>
          <a:blip r:embed="rId3"/>
          <a:stretch>
            <a:fillRect/>
          </a:stretch>
        </p:blipFill>
        <p:spPr>
          <a:xfrm>
            <a:off x="3559462" y="4936448"/>
            <a:ext cx="4374467" cy="1303034"/>
          </a:xfrm>
          <a:prstGeom prst="rect">
            <a:avLst/>
          </a:prstGeom>
        </p:spPr>
      </p:pic>
    </p:spTree>
    <p:extLst>
      <p:ext uri="{BB962C8B-B14F-4D97-AF65-F5344CB8AC3E}">
        <p14:creationId xmlns:p14="http://schemas.microsoft.com/office/powerpoint/2010/main" val="1188299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9C60E4-4CAA-45A8-4C43-24DE53E0EC54}"/>
              </a:ext>
            </a:extLst>
          </p:cNvPr>
          <p:cNvSpPr>
            <a:spLocks noGrp="1"/>
          </p:cNvSpPr>
          <p:nvPr>
            <p:ph type="title"/>
          </p:nvPr>
        </p:nvSpPr>
        <p:spPr/>
        <p:txBody>
          <a:bodyPr/>
          <a:lstStyle/>
          <a:p>
            <a:r>
              <a:rPr lang="pt-BR" dirty="0"/>
              <a:t>Ondas – Concordância e oposição de fases</a:t>
            </a:r>
          </a:p>
        </p:txBody>
      </p:sp>
      <p:sp>
        <p:nvSpPr>
          <p:cNvPr id="3" name="Espaço Reservado para Conteúdo 2">
            <a:extLst>
              <a:ext uri="{FF2B5EF4-FFF2-40B4-BE49-F238E27FC236}">
                <a16:creationId xmlns:a16="http://schemas.microsoft.com/office/drawing/2014/main" id="{A9AD9C4D-7141-C6CF-7E37-1D98E1808A86}"/>
              </a:ext>
            </a:extLst>
          </p:cNvPr>
          <p:cNvSpPr>
            <a:spLocks noGrp="1"/>
          </p:cNvSpPr>
          <p:nvPr>
            <p:ph idx="1"/>
          </p:nvPr>
        </p:nvSpPr>
        <p:spPr/>
        <p:txBody>
          <a:bodyPr/>
          <a:lstStyle/>
          <a:p>
            <a:endParaRPr lang="pt-BR" dirty="0"/>
          </a:p>
        </p:txBody>
      </p:sp>
      <p:sp>
        <p:nvSpPr>
          <p:cNvPr id="4" name="Retângulo 3">
            <a:extLst>
              <a:ext uri="{FF2B5EF4-FFF2-40B4-BE49-F238E27FC236}">
                <a16:creationId xmlns:a16="http://schemas.microsoft.com/office/drawing/2014/main" id="{D136F28D-6216-7A73-56C7-18D1491AB511}"/>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5126" name="Picture 6" descr="Interferências de Ondas - Construtiva e Destrutiva - Física - InfoEscola">
            <a:extLst>
              <a:ext uri="{FF2B5EF4-FFF2-40B4-BE49-F238E27FC236}">
                <a16:creationId xmlns:a16="http://schemas.microsoft.com/office/drawing/2014/main" id="{1299B14C-5102-7029-63E8-41F95C8BB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903" y="2150900"/>
            <a:ext cx="3933825" cy="320992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Interferências de Ondas - Construtiva e Destrutiva - Física - InfoEscola">
            <a:extLst>
              <a:ext uri="{FF2B5EF4-FFF2-40B4-BE49-F238E27FC236}">
                <a16:creationId xmlns:a16="http://schemas.microsoft.com/office/drawing/2014/main" id="{4E58C47C-CE53-DEC8-0A5D-C2131DE1F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11" y="2195675"/>
            <a:ext cx="5170929" cy="2868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449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6E646-8452-6144-1F86-4BF44C022A2F}"/>
              </a:ext>
            </a:extLst>
          </p:cNvPr>
          <p:cNvSpPr>
            <a:spLocks noGrp="1"/>
          </p:cNvSpPr>
          <p:nvPr>
            <p:ph type="title"/>
          </p:nvPr>
        </p:nvSpPr>
        <p:spPr/>
        <p:txBody>
          <a:bodyPr/>
          <a:lstStyle/>
          <a:p>
            <a:r>
              <a:rPr lang="pt-BR" dirty="0"/>
              <a:t>Ondas – Frente de onda, principio de </a:t>
            </a:r>
            <a:r>
              <a:rPr lang="pt-BR" dirty="0" err="1"/>
              <a:t>hugyens</a:t>
            </a:r>
            <a:endParaRPr lang="pt-BR" dirty="0"/>
          </a:p>
        </p:txBody>
      </p:sp>
      <p:sp>
        <p:nvSpPr>
          <p:cNvPr id="3" name="Espaço Reservado para Conteúdo 2">
            <a:extLst>
              <a:ext uri="{FF2B5EF4-FFF2-40B4-BE49-F238E27FC236}">
                <a16:creationId xmlns:a16="http://schemas.microsoft.com/office/drawing/2014/main" id="{41B0AD80-8C7D-66BF-155B-4845C458949C}"/>
              </a:ext>
            </a:extLst>
          </p:cNvPr>
          <p:cNvSpPr>
            <a:spLocks noGrp="1"/>
          </p:cNvSpPr>
          <p:nvPr>
            <p:ph idx="1"/>
          </p:nvPr>
        </p:nvSpPr>
        <p:spPr/>
        <p:txBody>
          <a:bodyPr/>
          <a:lstStyle/>
          <a:p>
            <a:endParaRPr lang="pt-BR"/>
          </a:p>
        </p:txBody>
      </p:sp>
      <p:sp>
        <p:nvSpPr>
          <p:cNvPr id="4" name="Retângulo 3">
            <a:extLst>
              <a:ext uri="{FF2B5EF4-FFF2-40B4-BE49-F238E27FC236}">
                <a16:creationId xmlns:a16="http://schemas.microsoft.com/office/drawing/2014/main" id="{63F5E882-62A2-FA27-96A5-F5F7556BF3E5}"/>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6" name="Imagem 5">
            <a:extLst>
              <a:ext uri="{FF2B5EF4-FFF2-40B4-BE49-F238E27FC236}">
                <a16:creationId xmlns:a16="http://schemas.microsoft.com/office/drawing/2014/main" id="{96EF6D6C-75CE-389F-04B7-86E3607CC389}"/>
              </a:ext>
            </a:extLst>
          </p:cNvPr>
          <p:cNvPicPr>
            <a:picLocks noChangeAspect="1"/>
          </p:cNvPicPr>
          <p:nvPr/>
        </p:nvPicPr>
        <p:blipFill>
          <a:blip r:embed="rId2"/>
          <a:stretch>
            <a:fillRect/>
          </a:stretch>
        </p:blipFill>
        <p:spPr>
          <a:xfrm>
            <a:off x="3881852" y="1924920"/>
            <a:ext cx="3712318" cy="4520054"/>
          </a:xfrm>
          <a:prstGeom prst="rect">
            <a:avLst/>
          </a:prstGeom>
        </p:spPr>
      </p:pic>
    </p:spTree>
    <p:extLst>
      <p:ext uri="{BB962C8B-B14F-4D97-AF65-F5344CB8AC3E}">
        <p14:creationId xmlns:p14="http://schemas.microsoft.com/office/powerpoint/2010/main" val="3008416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6E646-8452-6144-1F86-4BF44C022A2F}"/>
              </a:ext>
            </a:extLst>
          </p:cNvPr>
          <p:cNvSpPr>
            <a:spLocks noGrp="1"/>
          </p:cNvSpPr>
          <p:nvPr>
            <p:ph type="title"/>
          </p:nvPr>
        </p:nvSpPr>
        <p:spPr/>
        <p:txBody>
          <a:bodyPr/>
          <a:lstStyle/>
          <a:p>
            <a:r>
              <a:rPr lang="pt-BR" dirty="0"/>
              <a:t>Ondas – Frente de onda, principio de </a:t>
            </a:r>
            <a:r>
              <a:rPr lang="pt-BR" dirty="0" err="1"/>
              <a:t>hugyens</a:t>
            </a:r>
            <a:endParaRPr lang="pt-BR" dirty="0"/>
          </a:p>
        </p:txBody>
      </p:sp>
      <p:sp>
        <p:nvSpPr>
          <p:cNvPr id="3" name="Espaço Reservado para Conteúdo 2">
            <a:extLst>
              <a:ext uri="{FF2B5EF4-FFF2-40B4-BE49-F238E27FC236}">
                <a16:creationId xmlns:a16="http://schemas.microsoft.com/office/drawing/2014/main" id="{41B0AD80-8C7D-66BF-155B-4845C458949C}"/>
              </a:ext>
            </a:extLst>
          </p:cNvPr>
          <p:cNvSpPr>
            <a:spLocks noGrp="1"/>
          </p:cNvSpPr>
          <p:nvPr>
            <p:ph idx="1"/>
          </p:nvPr>
        </p:nvSpPr>
        <p:spPr/>
        <p:txBody>
          <a:bodyPr/>
          <a:lstStyle/>
          <a:p>
            <a:r>
              <a:rPr lang="pt-BR" b="0" i="0" dirty="0">
                <a:effectLst/>
                <a:latin typeface="-apple-system"/>
              </a:rPr>
              <a:t>O princípio de Huygens propõe que cada ponto de uma frente de onda comporta-se como uma fonte geradora de ondas, que são produzidas com as mesmas características da original.</a:t>
            </a:r>
            <a:endParaRPr lang="pt-BR" dirty="0"/>
          </a:p>
        </p:txBody>
      </p:sp>
      <p:sp>
        <p:nvSpPr>
          <p:cNvPr id="4" name="Retângulo 3">
            <a:extLst>
              <a:ext uri="{FF2B5EF4-FFF2-40B4-BE49-F238E27FC236}">
                <a16:creationId xmlns:a16="http://schemas.microsoft.com/office/drawing/2014/main" id="{63F5E882-62A2-FA27-96A5-F5F7556BF3E5}"/>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6146" name="Picture 2">
            <a:extLst>
              <a:ext uri="{FF2B5EF4-FFF2-40B4-BE49-F238E27FC236}">
                <a16:creationId xmlns:a16="http://schemas.microsoft.com/office/drawing/2014/main" id="{A14EC335-9CF1-0C09-6856-8DE84FEC1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9886" y="3735070"/>
            <a:ext cx="2617517" cy="260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4610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C8822-13E2-D96C-EAD1-77307722326E}"/>
              </a:ext>
            </a:extLst>
          </p:cNvPr>
          <p:cNvSpPr>
            <a:spLocks noGrp="1"/>
          </p:cNvSpPr>
          <p:nvPr>
            <p:ph type="title"/>
          </p:nvPr>
        </p:nvSpPr>
        <p:spPr>
          <a:xfrm>
            <a:off x="1143001" y="86673"/>
            <a:ext cx="9905998" cy="1478570"/>
          </a:xfrm>
        </p:spPr>
        <p:txBody>
          <a:bodyPr/>
          <a:lstStyle/>
          <a:p>
            <a:r>
              <a:rPr lang="pt-BR" dirty="0"/>
              <a:t>Ondas – Reflexão de ondas</a:t>
            </a:r>
          </a:p>
        </p:txBody>
      </p:sp>
      <p:sp>
        <p:nvSpPr>
          <p:cNvPr id="3" name="Espaço Reservado para Conteúdo 2">
            <a:extLst>
              <a:ext uri="{FF2B5EF4-FFF2-40B4-BE49-F238E27FC236}">
                <a16:creationId xmlns:a16="http://schemas.microsoft.com/office/drawing/2014/main" id="{425B424F-E915-290D-11FC-57836D9A0522}"/>
              </a:ext>
            </a:extLst>
          </p:cNvPr>
          <p:cNvSpPr>
            <a:spLocks noGrp="1"/>
          </p:cNvSpPr>
          <p:nvPr>
            <p:ph idx="1"/>
          </p:nvPr>
        </p:nvSpPr>
        <p:spPr>
          <a:xfrm>
            <a:off x="846945" y="1273094"/>
            <a:ext cx="9905999" cy="3541714"/>
          </a:xfrm>
        </p:spPr>
        <p:txBody>
          <a:bodyPr/>
          <a:lstStyle/>
          <a:p>
            <a:r>
              <a:rPr lang="pt-BR" b="1" i="0" dirty="0">
                <a:effectLst/>
                <a:latin typeface="Source Sans Pro" panose="020B0503030403020204" pitchFamily="34" charset="0"/>
              </a:rPr>
              <a:t>A reflexão de uma onda acontece sempre que ela encontra um obstáculo. Quando isso ocorre, a onda incidente sofre reflexão, o que origina a onda refletida.</a:t>
            </a:r>
            <a:endParaRPr lang="pt-BR" dirty="0"/>
          </a:p>
        </p:txBody>
      </p:sp>
      <p:sp>
        <p:nvSpPr>
          <p:cNvPr id="4" name="Retângulo 3">
            <a:extLst>
              <a:ext uri="{FF2B5EF4-FFF2-40B4-BE49-F238E27FC236}">
                <a16:creationId xmlns:a16="http://schemas.microsoft.com/office/drawing/2014/main" id="{D7CD7555-C09D-2A5F-3B83-ED5CB248A702}"/>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7172" name="Picture 4" descr="Reflexão de onda em uma corda. Estudo da reflexão de onda na corda">
            <a:extLst>
              <a:ext uri="{FF2B5EF4-FFF2-40B4-BE49-F238E27FC236}">
                <a16:creationId xmlns:a16="http://schemas.microsoft.com/office/drawing/2014/main" id="{6BBDBEC7-0349-FCA8-8526-8CBCCF111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3079" y="3032079"/>
            <a:ext cx="3800475" cy="312420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Fenômenos Ondulatórios | Mais Bolsas">
            <a:extLst>
              <a:ext uri="{FF2B5EF4-FFF2-40B4-BE49-F238E27FC236}">
                <a16:creationId xmlns:a16="http://schemas.microsoft.com/office/drawing/2014/main" id="{8BD7B764-097E-8FFC-553C-C51419ED0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054899"/>
            <a:ext cx="4292771" cy="2946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187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A90E0-5EAD-9B48-E113-817040EDD951}"/>
              </a:ext>
            </a:extLst>
          </p:cNvPr>
          <p:cNvSpPr>
            <a:spLocks noGrp="1"/>
          </p:cNvSpPr>
          <p:nvPr>
            <p:ph type="title"/>
          </p:nvPr>
        </p:nvSpPr>
        <p:spPr>
          <a:xfrm>
            <a:off x="1141412" y="0"/>
            <a:ext cx="9905998" cy="1478570"/>
          </a:xfrm>
        </p:spPr>
        <p:txBody>
          <a:bodyPr/>
          <a:lstStyle/>
          <a:p>
            <a:r>
              <a:rPr lang="pt-BR" dirty="0"/>
              <a:t>Ondas – refração de ondas</a:t>
            </a:r>
          </a:p>
        </p:txBody>
      </p:sp>
      <p:sp>
        <p:nvSpPr>
          <p:cNvPr id="3" name="Espaço Reservado para Conteúdo 2">
            <a:extLst>
              <a:ext uri="{FF2B5EF4-FFF2-40B4-BE49-F238E27FC236}">
                <a16:creationId xmlns:a16="http://schemas.microsoft.com/office/drawing/2014/main" id="{638E0F1F-B2E7-6F9E-25A0-D4BF3CE883D0}"/>
              </a:ext>
            </a:extLst>
          </p:cNvPr>
          <p:cNvSpPr>
            <a:spLocks noGrp="1"/>
          </p:cNvSpPr>
          <p:nvPr>
            <p:ph idx="1"/>
          </p:nvPr>
        </p:nvSpPr>
        <p:spPr>
          <a:xfrm>
            <a:off x="1141412" y="1149107"/>
            <a:ext cx="9905999" cy="3541714"/>
          </a:xfrm>
        </p:spPr>
        <p:txBody>
          <a:bodyPr/>
          <a:lstStyle/>
          <a:p>
            <a:r>
              <a:rPr lang="pt-BR" b="0" i="0" dirty="0">
                <a:effectLst/>
                <a:latin typeface="Google Sans"/>
              </a:rPr>
              <a:t>Refração: Ocorre refração quando a onda muda seu meio de propagação. A luz do Sol, por exemplo, vem da estrela através do vácuo e sofre refração ao entrar na atmosfera terrestre. Na refração, a velocidade de propagação da onda será alterada, pois a mudança de meio gera mudança no comprimento de onda.</a:t>
            </a:r>
            <a:endParaRPr lang="pt-BR" dirty="0"/>
          </a:p>
        </p:txBody>
      </p:sp>
      <p:sp>
        <p:nvSpPr>
          <p:cNvPr id="4" name="Retângulo 3">
            <a:extLst>
              <a:ext uri="{FF2B5EF4-FFF2-40B4-BE49-F238E27FC236}">
                <a16:creationId xmlns:a16="http://schemas.microsoft.com/office/drawing/2014/main" id="{9F2A0180-ED1E-117B-2D0B-0CAE188EFB0D}"/>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8194" name="Picture 2" descr="Refração de ondas. Estudo sobre a refração de ondas - Mundo ...">
            <a:extLst>
              <a:ext uri="{FF2B5EF4-FFF2-40B4-BE49-F238E27FC236}">
                <a16:creationId xmlns:a16="http://schemas.microsoft.com/office/drawing/2014/main" id="{94766D0B-5984-0536-843A-CF34B4F34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7036" y="3466140"/>
            <a:ext cx="3047167" cy="2781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58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CEF159-243B-C40B-F46C-C2B15C643CD7}"/>
              </a:ext>
            </a:extLst>
          </p:cNvPr>
          <p:cNvSpPr>
            <a:spLocks noGrp="1"/>
          </p:cNvSpPr>
          <p:nvPr>
            <p:ph type="title"/>
          </p:nvPr>
        </p:nvSpPr>
        <p:spPr>
          <a:xfrm>
            <a:off x="1141413" y="86673"/>
            <a:ext cx="9905998" cy="1478570"/>
          </a:xfrm>
        </p:spPr>
        <p:txBody>
          <a:bodyPr/>
          <a:lstStyle/>
          <a:p>
            <a:r>
              <a:rPr lang="pt-BR" dirty="0"/>
              <a:t>Ondas – difração de ondas </a:t>
            </a:r>
          </a:p>
        </p:txBody>
      </p:sp>
      <p:sp>
        <p:nvSpPr>
          <p:cNvPr id="3" name="Espaço Reservado para Conteúdo 2">
            <a:extLst>
              <a:ext uri="{FF2B5EF4-FFF2-40B4-BE49-F238E27FC236}">
                <a16:creationId xmlns:a16="http://schemas.microsoft.com/office/drawing/2014/main" id="{337D97DF-F156-67FD-5FB0-4730D1ED2FF1}"/>
              </a:ext>
            </a:extLst>
          </p:cNvPr>
          <p:cNvSpPr>
            <a:spLocks noGrp="1"/>
          </p:cNvSpPr>
          <p:nvPr>
            <p:ph idx="1"/>
          </p:nvPr>
        </p:nvSpPr>
        <p:spPr>
          <a:xfrm>
            <a:off x="1141413" y="1381582"/>
            <a:ext cx="9905999" cy="3541714"/>
          </a:xfrm>
        </p:spPr>
        <p:txBody>
          <a:bodyPr/>
          <a:lstStyle/>
          <a:p>
            <a:r>
              <a:rPr lang="pt-BR" b="0" i="0" dirty="0">
                <a:effectLst/>
                <a:latin typeface="system-ui"/>
              </a:rPr>
              <a:t>Difração de ondas é o desvio ou o espalhamento que uma onda apresenta, contornando ou transpondo obstáculos colocados em seu caminho. A difração ocorre a todos os tipos de ondas. "A difração será tanto mais intensa quanto maior for o comprimento de onda quando comparado ao tamanho do obstáculo.</a:t>
            </a:r>
            <a:endParaRPr lang="pt-BR" dirty="0"/>
          </a:p>
        </p:txBody>
      </p:sp>
      <p:sp>
        <p:nvSpPr>
          <p:cNvPr id="4" name="Retângulo 3">
            <a:extLst>
              <a:ext uri="{FF2B5EF4-FFF2-40B4-BE49-F238E27FC236}">
                <a16:creationId xmlns:a16="http://schemas.microsoft.com/office/drawing/2014/main" id="{AD2E9BC1-5B74-36DE-3A0D-389CA47AD5E6}"/>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9218" name="Picture 2" descr="Passagem de uma onda por uma fenda grande e passagem de uma onda por uma fenda pequena">
            <a:extLst>
              <a:ext uri="{FF2B5EF4-FFF2-40B4-BE49-F238E27FC236}">
                <a16:creationId xmlns:a16="http://schemas.microsoft.com/office/drawing/2014/main" id="{39AC25D9-8971-A2FA-5497-E8499F7C7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7430" y="3785586"/>
            <a:ext cx="4681885" cy="2275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029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9DC730-F10D-082B-D9B2-2E50772962BC}"/>
              </a:ext>
            </a:extLst>
          </p:cNvPr>
          <p:cNvSpPr>
            <a:spLocks noGrp="1"/>
          </p:cNvSpPr>
          <p:nvPr>
            <p:ph type="title"/>
          </p:nvPr>
        </p:nvSpPr>
        <p:spPr>
          <a:xfrm>
            <a:off x="1308619" y="0"/>
            <a:ext cx="9905998" cy="1478570"/>
          </a:xfrm>
        </p:spPr>
        <p:txBody>
          <a:bodyPr/>
          <a:lstStyle/>
          <a:p>
            <a:r>
              <a:rPr lang="pt-BR" dirty="0"/>
              <a:t>Ondas – polarização de ondas</a:t>
            </a:r>
          </a:p>
        </p:txBody>
      </p:sp>
      <p:sp>
        <p:nvSpPr>
          <p:cNvPr id="3" name="Espaço Reservado para Conteúdo 2">
            <a:extLst>
              <a:ext uri="{FF2B5EF4-FFF2-40B4-BE49-F238E27FC236}">
                <a16:creationId xmlns:a16="http://schemas.microsoft.com/office/drawing/2014/main" id="{EE4AEA0F-9F06-B9F4-687B-65BEF240B37A}"/>
              </a:ext>
            </a:extLst>
          </p:cNvPr>
          <p:cNvSpPr>
            <a:spLocks noGrp="1"/>
          </p:cNvSpPr>
          <p:nvPr>
            <p:ph idx="1"/>
          </p:nvPr>
        </p:nvSpPr>
        <p:spPr>
          <a:xfrm>
            <a:off x="977383" y="1280135"/>
            <a:ext cx="9905999" cy="3541714"/>
          </a:xfrm>
        </p:spPr>
        <p:txBody>
          <a:bodyPr/>
          <a:lstStyle/>
          <a:p>
            <a:r>
              <a:rPr lang="pt-BR" b="0" i="0" dirty="0">
                <a:effectLst/>
                <a:latin typeface="Google Sans"/>
              </a:rPr>
              <a:t>Polarização de ondas é o fenômeno no qual uma onda transversal, vibrando em várias direções, tem uma de suas direções de vibração selecionada, enquanto as vibrações nas demais direções são impedidas de passar por um dispositivo, denominado polarizador.</a:t>
            </a:r>
            <a:endParaRPr lang="pt-BR" dirty="0"/>
          </a:p>
        </p:txBody>
      </p:sp>
      <p:sp>
        <p:nvSpPr>
          <p:cNvPr id="4" name="Retângulo 3">
            <a:extLst>
              <a:ext uri="{FF2B5EF4-FFF2-40B4-BE49-F238E27FC236}">
                <a16:creationId xmlns:a16="http://schemas.microsoft.com/office/drawing/2014/main" id="{47E49B76-4CDC-DFA5-DB05-857DA47C1D48}"/>
              </a:ext>
            </a:extLst>
          </p:cNvPr>
          <p:cNvSpPr/>
          <p:nvPr/>
        </p:nvSpPr>
        <p:spPr>
          <a:xfrm>
            <a:off x="559837" y="66008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sp>
        <p:nvSpPr>
          <p:cNvPr id="5" name="Retângulo 4">
            <a:extLst>
              <a:ext uri="{FF2B5EF4-FFF2-40B4-BE49-F238E27FC236}">
                <a16:creationId xmlns:a16="http://schemas.microsoft.com/office/drawing/2014/main" id="{E2502D8A-A306-3975-C477-D12070CA09C8}"/>
              </a:ext>
            </a:extLst>
          </p:cNvPr>
          <p:cNvSpPr/>
          <p:nvPr/>
        </p:nvSpPr>
        <p:spPr>
          <a:xfrm>
            <a:off x="712237" y="6753225"/>
            <a:ext cx="11403563" cy="1705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Luiz Fernando de Andrade Gadêlha – luizfernandodag@gmail.com</a:t>
            </a:r>
          </a:p>
        </p:txBody>
      </p:sp>
      <p:pic>
        <p:nvPicPr>
          <p:cNvPr id="10242" name="Picture 2" descr="O que é polarização? - Brasil Escola">
            <a:extLst>
              <a:ext uri="{FF2B5EF4-FFF2-40B4-BE49-F238E27FC236}">
                <a16:creationId xmlns:a16="http://schemas.microsoft.com/office/drawing/2014/main" id="{311B1331-8045-2401-43DC-3860AB3D21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4977" y="3257546"/>
            <a:ext cx="6593281" cy="3095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9905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TM04033919[[fn=Circuito]]</Template>
  <TotalTime>294</TotalTime>
  <Words>535</Words>
  <Application>Microsoft Office PowerPoint</Application>
  <PresentationFormat>Widescreen</PresentationFormat>
  <Paragraphs>47</Paragraphs>
  <Slides>18</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18</vt:i4>
      </vt:variant>
    </vt:vector>
  </HeadingPairs>
  <TitlesOfParts>
    <vt:vector size="25" baseType="lpstr">
      <vt:lpstr>-apple-system</vt:lpstr>
      <vt:lpstr>Arial</vt:lpstr>
      <vt:lpstr>Google Sans</vt:lpstr>
      <vt:lpstr>Source Sans Pro</vt:lpstr>
      <vt:lpstr>system-ui</vt:lpstr>
      <vt:lpstr>Tw Cen MT</vt:lpstr>
      <vt:lpstr>Circuito</vt:lpstr>
      <vt:lpstr>Ondas</vt:lpstr>
      <vt:lpstr>Ondas - conceito</vt:lpstr>
      <vt:lpstr>Ondas – Natureza das ondas</vt:lpstr>
      <vt:lpstr>Ondas – tipos de ondas </vt:lpstr>
      <vt:lpstr>Ondas – Propagação de um pulso</vt:lpstr>
      <vt:lpstr>Ondas – Reflexão  </vt:lpstr>
      <vt:lpstr>Ondas - Refração</vt:lpstr>
      <vt:lpstr>Ondas – Ondas períodicas</vt:lpstr>
      <vt:lpstr>Ondas – Ondas Periódicas</vt:lpstr>
      <vt:lpstr>Ondas – Ondas periódicas</vt:lpstr>
      <vt:lpstr>Ondas – Função de onda</vt:lpstr>
      <vt:lpstr>Ondas – Concordância e oposição de fases</vt:lpstr>
      <vt:lpstr>Ondas – Frente de onda, principio de hugyens</vt:lpstr>
      <vt:lpstr>Ondas – Frente de onda, principio de hugyens</vt:lpstr>
      <vt:lpstr>Ondas – Reflexão de ondas</vt:lpstr>
      <vt:lpstr>Ondas – refração de ondas</vt:lpstr>
      <vt:lpstr>Ondas – difração de ondas </vt:lpstr>
      <vt:lpstr>Ondas – polarização de ondas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Luiz Gadêlha</dc:creator>
  <cp:lastModifiedBy>Luiz Gadêlha</cp:lastModifiedBy>
  <cp:revision>5</cp:revision>
  <dcterms:created xsi:type="dcterms:W3CDTF">2023-09-04T20:02:54Z</dcterms:created>
  <dcterms:modified xsi:type="dcterms:W3CDTF">2023-09-05T00:57:28Z</dcterms:modified>
</cp:coreProperties>
</file>